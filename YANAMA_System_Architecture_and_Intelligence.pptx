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69"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1B08F3-5B23-465E-9040-2629F6941F31}" v="5" dt="2026-10-22T17:51:56.0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1" d="100"/>
          <a:sy n="101" d="100"/>
        </p:scale>
        <p:origin x="132" y="21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shi Harikrishnan" userId="cb27e7a3d047c6b5" providerId="LiveId" clId="{245FB2F3-9367-4F02-9B3C-5B877636689A}"/>
    <pc:docChg chg="custSel addSld modSld sldOrd">
      <pc:chgData name="Rishi Harikrishnan" userId="cb27e7a3d047c6b5" providerId="LiveId" clId="{245FB2F3-9367-4F02-9B3C-5B877636689A}" dt="2026-10-22T17:52:51.357" v="203" actId="207"/>
      <pc:docMkLst>
        <pc:docMk/>
      </pc:docMkLst>
      <pc:sldChg chg="addSp modSp mod">
        <pc:chgData name="Rishi Harikrishnan" userId="cb27e7a3d047c6b5" providerId="LiveId" clId="{245FB2F3-9367-4F02-9B3C-5B877636689A}" dt="2026-10-22T17:48:29.181" v="44" actId="1076"/>
        <pc:sldMkLst>
          <pc:docMk/>
          <pc:sldMk cId="0" sldId="256"/>
        </pc:sldMkLst>
        <pc:spChg chg="add mod">
          <ac:chgData name="Rishi Harikrishnan" userId="cb27e7a3d047c6b5" providerId="LiveId" clId="{245FB2F3-9367-4F02-9B3C-5B877636689A}" dt="2026-10-22T17:48:29.181" v="44" actId="1076"/>
          <ac:spMkLst>
            <pc:docMk/>
            <pc:sldMk cId="0" sldId="256"/>
            <ac:spMk id="5" creationId="{E66FB056-1457-DD6A-3561-926793D86F1E}"/>
          </ac:spMkLst>
        </pc:spChg>
      </pc:sldChg>
      <pc:sldChg chg="addSp modSp new mod ord">
        <pc:chgData name="Rishi Harikrishnan" userId="cb27e7a3d047c6b5" providerId="LiveId" clId="{245FB2F3-9367-4F02-9B3C-5B877636689A}" dt="2026-10-22T17:50:37" v="181" actId="14100"/>
        <pc:sldMkLst>
          <pc:docMk/>
          <pc:sldMk cId="2133349152" sldId="269"/>
        </pc:sldMkLst>
        <pc:spChg chg="add mod">
          <ac:chgData name="Rishi Harikrishnan" userId="cb27e7a3d047c6b5" providerId="LiveId" clId="{245FB2F3-9367-4F02-9B3C-5B877636689A}" dt="2026-10-22T17:50:37" v="181" actId="14100"/>
          <ac:spMkLst>
            <pc:docMk/>
            <pc:sldMk cId="2133349152" sldId="269"/>
            <ac:spMk id="2" creationId="{F632E46A-A427-636D-67B5-23A35B6CB7D1}"/>
          </ac:spMkLst>
        </pc:spChg>
      </pc:sldChg>
      <pc:sldChg chg="delSp modSp add mod">
        <pc:chgData name="Rishi Harikrishnan" userId="cb27e7a3d047c6b5" providerId="LiveId" clId="{245FB2F3-9367-4F02-9B3C-5B877636689A}" dt="2026-10-22T17:52:51.357" v="203" actId="207"/>
        <pc:sldMkLst>
          <pc:docMk/>
          <pc:sldMk cId="272482499" sldId="270"/>
        </pc:sldMkLst>
        <pc:spChg chg="del mod">
          <ac:chgData name="Rishi Harikrishnan" userId="cb27e7a3d047c6b5" providerId="LiveId" clId="{245FB2F3-9367-4F02-9B3C-5B877636689A}" dt="2026-10-22T17:52:05.247" v="201"/>
          <ac:spMkLst>
            <pc:docMk/>
            <pc:sldMk cId="272482499" sldId="270"/>
            <ac:spMk id="3" creationId="{005CB251-2677-60CB-AF9A-E53C4F678920}"/>
          </ac:spMkLst>
        </pc:spChg>
        <pc:spChg chg="mod">
          <ac:chgData name="Rishi Harikrishnan" userId="cb27e7a3d047c6b5" providerId="LiveId" clId="{245FB2F3-9367-4F02-9B3C-5B877636689A}" dt="2026-10-22T17:52:51.357" v="203" actId="207"/>
          <ac:spMkLst>
            <pc:docMk/>
            <pc:sldMk cId="272482499" sldId="270"/>
            <ac:spMk id="6" creationId="{11507EDA-5BDB-E37B-BE48-D25F57532BD7}"/>
          </ac:spMkLst>
        </pc:spChg>
        <pc:spChg chg="del mod">
          <ac:chgData name="Rishi Harikrishnan" userId="cb27e7a3d047c6b5" providerId="LiveId" clId="{245FB2F3-9367-4F02-9B3C-5B877636689A}" dt="2026-10-22T17:51:40.676" v="191" actId="21"/>
          <ac:spMkLst>
            <pc:docMk/>
            <pc:sldMk cId="272482499" sldId="270"/>
            <ac:spMk id="7" creationId="{0238308F-4B59-6FB6-20ED-52CFC7855B83}"/>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www.linkedin.com/in/rishiharikrishnan" TargetMode="External"/><Relationship Id="rId2" Type="http://schemas.openxmlformats.org/officeDocument/2006/relationships/hyperlink" Target="mailto:rishih2006@gmail.com"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hyperlink" Target="mailto:rishih2006@gmail.com"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1371600" y="1097280"/>
            <a:ext cx="9445752" cy="4663440"/>
          </a:xfrm>
          <a:prstGeom prst="roundRect">
            <a:avLst/>
          </a:prstGeom>
          <a:solidFill>
            <a:srgbClr val="1D1D1D"/>
          </a:solidFill>
          <a:ln w="19050">
            <a:solidFill>
              <a:srgbClr val="4C46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28800" y="1463040"/>
            <a:ext cx="8531352" cy="3931920"/>
          </a:xfrm>
          <a:prstGeom prst="rect">
            <a:avLst/>
          </a:prstGeom>
          <a:noFill/>
        </p:spPr>
        <p:txBody>
          <a:bodyPr wrap="square">
            <a:spAutoFit/>
          </a:bodyPr>
          <a:lstStyle/>
          <a:p>
            <a:pPr>
              <a:defRPr sz="1200" b="1">
                <a:solidFill>
                  <a:srgbClr val="A5A78F"/>
                </a:solidFill>
                <a:latin typeface="Consolas"/>
              </a:defRPr>
            </a:pPr>
            <a:r>
              <a:t>AUTOMOTIVE PLATFORM PRESENTATION</a:t>
            </a:r>
          </a:p>
          <a:p>
            <a:pPr>
              <a:defRPr sz="4800" b="1">
                <a:solidFill>
                  <a:srgbClr val="F0EFED"/>
                </a:solidFill>
                <a:latin typeface="Arial"/>
              </a:defRPr>
            </a:pPr>
            <a:r>
              <a:t>YANAMA</a:t>
            </a:r>
          </a:p>
          <a:p>
            <a:pPr>
              <a:defRPr sz="2200">
                <a:solidFill>
                  <a:srgbClr val="A5A78F"/>
                </a:solidFill>
                <a:latin typeface="Arial"/>
              </a:defRPr>
            </a:pPr>
            <a:r>
              <a:t>Vehicle Intelligence &amp; Analytics</a:t>
            </a:r>
          </a:p>
          <a:p>
            <a:pPr>
              <a:spcBef>
                <a:spcPts val="2000"/>
              </a:spcBef>
              <a:defRPr sz="1300">
                <a:solidFill>
                  <a:srgbClr val="F0EFED"/>
                </a:solidFill>
                <a:latin typeface="Arial"/>
              </a:defRPr>
            </a:pPr>
            <a:r>
              <a:t>Full-Stack Automotive Analytics Architecture featuring Rule-Based Diagnostics, Statistical Parametric Distributions, Road Trip Simulation, and AI Efficiency Agents.</a:t>
            </a:r>
            <a:br/>
            <a:r>
              <a:t>Supported Powertrains: Petrol &amp; Diesel Vehicles | Decoupled CSV-First Pipeline</a:t>
            </a:r>
          </a:p>
          <a:p>
            <a:pPr>
              <a:spcBef>
                <a:spcPts val="2400"/>
              </a:spcBef>
              <a:defRPr sz="1100">
                <a:solidFill>
                  <a:srgbClr val="A5A78F"/>
                </a:solidFill>
                <a:latin typeface="Consolas"/>
              </a:defRPr>
            </a:pPr>
            <a:r>
              <a:t>Built with FastAPI, React, TypeScript, Recharts, Pandas, and ReportLab</a:t>
            </a:r>
          </a:p>
        </p:txBody>
      </p:sp>
      <p:sp>
        <p:nvSpPr>
          <p:cNvPr id="5" name="TextBox 4">
            <a:extLst>
              <a:ext uri="{FF2B5EF4-FFF2-40B4-BE49-F238E27FC236}">
                <a16:creationId xmlns:a16="http://schemas.microsoft.com/office/drawing/2014/main" id="{E66FB056-1457-DD6A-3561-926793D86F1E}"/>
              </a:ext>
            </a:extLst>
          </p:cNvPr>
          <p:cNvSpPr txBox="1"/>
          <p:nvPr/>
        </p:nvSpPr>
        <p:spPr>
          <a:xfrm>
            <a:off x="8455152" y="4895165"/>
            <a:ext cx="2590800" cy="646331"/>
          </a:xfrm>
          <a:prstGeom prst="rect">
            <a:avLst/>
          </a:prstGeom>
          <a:noFill/>
        </p:spPr>
        <p:txBody>
          <a:bodyPr wrap="square" rtlCol="0">
            <a:spAutoFit/>
          </a:bodyPr>
          <a:lstStyle/>
          <a:p>
            <a:r>
              <a:rPr lang="en-US" dirty="0">
                <a:solidFill>
                  <a:schemeClr val="bg1"/>
                </a:solidFill>
              </a:rPr>
              <a:t>Rishi Harikrishnan</a:t>
            </a:r>
            <a:br>
              <a:rPr lang="en-US" dirty="0">
                <a:solidFill>
                  <a:schemeClr val="bg1"/>
                </a:solidFill>
              </a:rPr>
            </a:br>
            <a:r>
              <a:rPr lang="en-US" dirty="0">
                <a:solidFill>
                  <a:schemeClr val="bg1"/>
                </a:solidFill>
              </a:rPr>
              <a:t>+91 9962141703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1005840"/>
          </a:xfrm>
          <a:prstGeom prst="rect">
            <a:avLst/>
          </a:prstGeom>
          <a:noFill/>
        </p:spPr>
        <p:txBody>
          <a:bodyPr wrap="square" lIns="0" tIns="0" rIns="0" bIns="0">
            <a:spAutoFit/>
          </a:bodyPr>
          <a:lstStyle/>
          <a:p>
            <a:pPr>
              <a:defRPr sz="1000" b="1">
                <a:solidFill>
                  <a:srgbClr val="A5A78F"/>
                </a:solidFill>
                <a:latin typeface="Consolas"/>
              </a:defRPr>
            </a:pPr>
            <a:r>
              <a:t>01 / PLATFORM OVERVIEW</a:t>
            </a:r>
          </a:p>
          <a:p>
            <a:pPr>
              <a:defRPr sz="2200" b="1">
                <a:solidFill>
                  <a:srgbClr val="F0EFED"/>
                </a:solidFill>
                <a:latin typeface="Arial"/>
              </a:defRPr>
            </a:pPr>
            <a:r>
              <a:t>Executive Summary &amp; Dual-User Paradigm</a:t>
            </a:r>
          </a:p>
          <a:p>
            <a:pPr>
              <a:defRPr sz="1100">
                <a:solidFill>
                  <a:srgbClr val="A5A78F"/>
                </a:solidFill>
                <a:latin typeface="Arial"/>
              </a:defRPr>
            </a:pPr>
            <a:r>
              <a:t>Empowering everyday car owners and technical mechanics from a single unified telemetry source</a:t>
            </a:r>
          </a:p>
        </p:txBody>
      </p:sp>
      <p:sp>
        <p:nvSpPr>
          <p:cNvPr id="4" name="Rectangle 3"/>
          <p:cNvSpPr/>
          <p:nvPr/>
        </p:nvSpPr>
        <p:spPr>
          <a:xfrm>
            <a:off x="731520" y="6400800"/>
            <a:ext cx="10728655" cy="18288"/>
          </a:xfrm>
          <a:prstGeom prst="rect">
            <a:avLst/>
          </a:prstGeom>
          <a:solidFill>
            <a:srgbClr val="4C46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10698480" cy="320040"/>
          </a:xfrm>
          <a:prstGeom prst="rect">
            <a:avLst/>
          </a:prstGeom>
          <a:noFill/>
        </p:spPr>
        <p:txBody>
          <a:bodyPr wrap="none">
            <a:spAutoFit/>
          </a:bodyPr>
          <a:lstStyle/>
          <a:p>
            <a:pPr>
              <a:defRPr sz="900">
                <a:solidFill>
                  <a:srgbClr val="A5A78F"/>
                </a:solidFill>
                <a:latin typeface="Consolas"/>
              </a:defRPr>
            </a:pPr>
            <a:r>
              <a:t>YANAMA – Automotive Intelligence &amp; Analytics Web Platform | Confidential Engineering Specification</a:t>
            </a:r>
          </a:p>
        </p:txBody>
      </p:sp>
      <p:sp>
        <p:nvSpPr>
          <p:cNvPr id="6" name="Rounded Rectangle 5"/>
          <p:cNvSpPr/>
          <p:nvPr/>
        </p:nvSpPr>
        <p:spPr>
          <a:xfrm>
            <a:off x="731520" y="1554480"/>
            <a:ext cx="3328416" cy="4480560"/>
          </a:xfrm>
          <a:prstGeom prst="roundRect">
            <a:avLst/>
          </a:prstGeom>
          <a:solidFill>
            <a:srgbClr val="000000"/>
          </a:solidFill>
          <a:ln>
            <a:solidFill>
              <a:srgbClr val="4C4643"/>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defRPr sz="1100" b="1">
                <a:solidFill>
                  <a:srgbClr val="A5A78F"/>
                </a:solidFill>
                <a:latin typeface="Consolas"/>
              </a:defRPr>
            </a:pPr>
            <a:r>
              <a:t>CSV-FIRST ARCHITECTURE</a:t>
            </a:r>
          </a:p>
          <a:p>
            <a:pPr>
              <a:spcBef>
                <a:spcPts val="1000"/>
              </a:spcBef>
              <a:defRPr sz="1600" b="1">
                <a:solidFill>
                  <a:srgbClr val="F0EFED"/>
                </a:solidFill>
              </a:defRPr>
            </a:pPr>
            <a:r>
              <a:t>Decoupled Data Pipeline</a:t>
            </a:r>
          </a:p>
          <a:p>
            <a:pPr>
              <a:spcBef>
                <a:spcPts val="1000"/>
              </a:spcBef>
              <a:defRPr sz="1100">
                <a:solidFill>
                  <a:srgbClr val="F0EFED"/>
                </a:solidFill>
              </a:defRPr>
            </a:pPr>
            <a:r>
              <a:t>• Direct hardware dependency eliminated: No live dongle, BLE tether, or SIM socket needed.</a:t>
            </a:r>
            <a:br/>
            <a:br/>
            <a:r>
              <a:t>• Onboard SD-card/microcontroller logs are ingested via standardized CSV files.</a:t>
            </a:r>
            <a:br/>
            <a:br/>
            <a:r>
              <a:t>• 5 Ingestion Schemas: Engine, Fuel Telemetry, Electrical, Maintenance Log, and Diagnostics.</a:t>
            </a:r>
            <a:br/>
            <a:br/>
            <a:r>
              <a:t>• Instant schema normalization, derived metric computation, and validation audits.</a:t>
            </a:r>
          </a:p>
        </p:txBody>
      </p:sp>
      <p:sp>
        <p:nvSpPr>
          <p:cNvPr id="7" name="Rounded Rectangle 6"/>
          <p:cNvSpPr/>
          <p:nvPr/>
        </p:nvSpPr>
        <p:spPr>
          <a:xfrm>
            <a:off x="4407408" y="1554480"/>
            <a:ext cx="3328416" cy="4480560"/>
          </a:xfrm>
          <a:prstGeom prst="roundRect">
            <a:avLst/>
          </a:prstGeom>
          <a:solidFill>
            <a:srgbClr val="000000"/>
          </a:solidFill>
          <a:ln>
            <a:solidFill>
              <a:srgbClr val="4C4643"/>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defRPr sz="1100" b="1">
                <a:solidFill>
                  <a:srgbClr val="A5A78F"/>
                </a:solidFill>
                <a:latin typeface="Consolas"/>
              </a:defRPr>
            </a:pPr>
            <a:r>
              <a:t>PERSONA A: CAR OWNER</a:t>
            </a:r>
          </a:p>
          <a:p>
            <a:pPr>
              <a:spcBef>
                <a:spcPts val="1000"/>
              </a:spcBef>
              <a:defRPr sz="1600" b="1">
                <a:solidFill>
                  <a:srgbClr val="F0EFED"/>
                </a:solidFill>
              </a:defRPr>
            </a:pPr>
            <a:r>
              <a:t>Simple, Plain Language</a:t>
            </a:r>
          </a:p>
          <a:p>
            <a:pPr>
              <a:spcBef>
                <a:spcPts val="1000"/>
              </a:spcBef>
              <a:defRPr sz="1100">
                <a:solidFill>
                  <a:srgbClr val="F0EFED"/>
                </a:solidFill>
              </a:defRPr>
            </a:pPr>
            <a:r>
              <a:t>• Plain English Diagnostic Insights: Explains root cause without confusing technical OBD codes.</a:t>
            </a:r>
            <a:br/>
            <a:br/>
            <a:r>
              <a:t>• Composite Vehicle Health Score (0-100) with letter grades (A/B/C/D).</a:t>
            </a:r>
            <a:br/>
            <a:br/>
            <a:r>
              <a:t>• Prioritized Action Items with estimated annual rupee savings.</a:t>
            </a:r>
            <a:br/>
            <a:br/>
            <a:r>
              <a:t>• Clear alerts: 'Engine running warmer than normal; allow cooling and inspect radiator.'</a:t>
            </a:r>
          </a:p>
        </p:txBody>
      </p:sp>
      <p:sp>
        <p:nvSpPr>
          <p:cNvPr id="8" name="Rounded Rectangle 7"/>
          <p:cNvSpPr/>
          <p:nvPr/>
        </p:nvSpPr>
        <p:spPr>
          <a:xfrm>
            <a:off x="8083296" y="1554480"/>
            <a:ext cx="3328416" cy="4480560"/>
          </a:xfrm>
          <a:prstGeom prst="roundRect">
            <a:avLst/>
          </a:prstGeom>
          <a:solidFill>
            <a:srgbClr val="000000"/>
          </a:solidFill>
          <a:ln>
            <a:solidFill>
              <a:srgbClr val="4C4643"/>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274320" rtlCol="0" anchor="ctr"/>
          <a:lstStyle/>
          <a:p>
            <a:pPr algn="ctr">
              <a:defRPr sz="1100" b="1">
                <a:solidFill>
                  <a:srgbClr val="A5A78F"/>
                </a:solidFill>
                <a:latin typeface="Consolas"/>
              </a:defRPr>
            </a:pPr>
            <a:r>
              <a:t>PERSONA B: MECHANIC</a:t>
            </a:r>
          </a:p>
          <a:p>
            <a:pPr>
              <a:spcBef>
                <a:spcPts val="1000"/>
              </a:spcBef>
              <a:defRPr sz="1600" b="1">
                <a:solidFill>
                  <a:srgbClr val="F0EFED"/>
                </a:solidFill>
              </a:defRPr>
            </a:pPr>
            <a:r>
              <a:t>In-Depth Engineering Specs</a:t>
            </a:r>
          </a:p>
          <a:p>
            <a:pPr>
              <a:spcBef>
                <a:spcPts val="1000"/>
              </a:spcBef>
              <a:defRPr sz="1100">
                <a:solidFill>
                  <a:srgbClr val="F0EFED"/>
                </a:solidFill>
              </a:defRPr>
            </a:pPr>
            <a:r>
              <a:t>• Raw OBD/CAN Data Streams: Full sensor curves for RPM, Torque, Throttle %, and Voltages.</a:t>
            </a:r>
            <a:br/>
            <a:br/>
            <a:r>
              <a:t>• Parametric Standard Deviation (σ), regression drift slope, and anomaly counts.</a:t>
            </a:r>
            <a:br/>
            <a:br/>
            <a:r>
              <a:t>• Exact rule thresholds: 'Coolant exceeded 102.0°C; evaluate thermostat valve hysteresis.'</a:t>
            </a:r>
            <a:br/>
            <a:br/>
            <a:r>
              <a:t>• 1-Click PDF Engineering Audit &amp; Processed CSV Dataset downloads.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1005840"/>
          </a:xfrm>
          <a:prstGeom prst="rect">
            <a:avLst/>
          </a:prstGeom>
          <a:noFill/>
        </p:spPr>
        <p:txBody>
          <a:bodyPr wrap="square" lIns="0" tIns="0" rIns="0" bIns="0">
            <a:spAutoFit/>
          </a:bodyPr>
          <a:lstStyle/>
          <a:p>
            <a:pPr>
              <a:defRPr sz="1000" b="1">
                <a:solidFill>
                  <a:srgbClr val="A5A78F"/>
                </a:solidFill>
                <a:latin typeface="Consolas"/>
              </a:defRPr>
            </a:pPr>
            <a:r>
              <a:t>02 / SYSTEM ARCHITECTURE</a:t>
            </a:r>
          </a:p>
          <a:p>
            <a:pPr>
              <a:defRPr sz="2200" b="1">
                <a:solidFill>
                  <a:srgbClr val="F0EFED"/>
                </a:solidFill>
                <a:latin typeface="Arial"/>
              </a:defRPr>
            </a:pPr>
            <a:r>
              <a:t>End-to-End System Architecture</a:t>
            </a:r>
          </a:p>
          <a:p>
            <a:pPr>
              <a:defRPr sz="1100">
                <a:solidFill>
                  <a:srgbClr val="A5A78F"/>
                </a:solidFill>
                <a:latin typeface="Arial"/>
              </a:defRPr>
            </a:pPr>
            <a:r>
              <a:t>Modular monolithic pipeline from onboard CSV collection to analytical intelligence</a:t>
            </a:r>
          </a:p>
        </p:txBody>
      </p:sp>
      <p:sp>
        <p:nvSpPr>
          <p:cNvPr id="4" name="Rectangle 3"/>
          <p:cNvSpPr/>
          <p:nvPr/>
        </p:nvSpPr>
        <p:spPr>
          <a:xfrm>
            <a:off x="731520" y="6400800"/>
            <a:ext cx="10728655" cy="18288"/>
          </a:xfrm>
          <a:prstGeom prst="rect">
            <a:avLst/>
          </a:prstGeom>
          <a:solidFill>
            <a:srgbClr val="4C46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10698480" cy="320040"/>
          </a:xfrm>
          <a:prstGeom prst="rect">
            <a:avLst/>
          </a:prstGeom>
          <a:noFill/>
        </p:spPr>
        <p:txBody>
          <a:bodyPr wrap="none">
            <a:spAutoFit/>
          </a:bodyPr>
          <a:lstStyle/>
          <a:p>
            <a:pPr>
              <a:defRPr sz="900">
                <a:solidFill>
                  <a:srgbClr val="A5A78F"/>
                </a:solidFill>
                <a:latin typeface="Consolas"/>
              </a:defRPr>
            </a:pPr>
            <a:r>
              <a:t>YANAMA – Automotive Intelligence &amp; Analytics Web Platform | Confidential Engineering Specification</a:t>
            </a:r>
          </a:p>
        </p:txBody>
      </p:sp>
      <p:sp>
        <p:nvSpPr>
          <p:cNvPr id="6" name="Rounded Rectangle 5"/>
          <p:cNvSpPr/>
          <p:nvPr/>
        </p:nvSpPr>
        <p:spPr>
          <a:xfrm>
            <a:off x="731520" y="1554480"/>
            <a:ext cx="10725912" cy="987552"/>
          </a:xfrm>
          <a:prstGeom prst="roundRect">
            <a:avLst/>
          </a:prstGeom>
          <a:solidFill>
            <a:srgbClr val="000000"/>
          </a:solidFill>
          <a:ln w="12700">
            <a:solidFill>
              <a:srgbClr val="4C4643"/>
            </a:solidFill>
          </a:ln>
        </p:spPr>
        <p:style>
          <a:lnRef idx="1">
            <a:schemeClr val="accent1"/>
          </a:lnRef>
          <a:fillRef idx="3">
            <a:schemeClr val="accent1"/>
          </a:fillRef>
          <a:effectRef idx="2">
            <a:schemeClr val="accent1"/>
          </a:effectRef>
          <a:fontRef idx="minor">
            <a:schemeClr val="lt1"/>
          </a:fontRef>
        </p:style>
        <p:txBody>
          <a:bodyPr wrap="square" lIns="274320" tIns="164592" rtlCol="0" anchor="ctr"/>
          <a:lstStyle/>
          <a:p>
            <a:pPr algn="ctr">
              <a:defRPr sz="1200" b="1">
                <a:solidFill>
                  <a:srgbClr val="F0EFED"/>
                </a:solidFill>
                <a:latin typeface="Consolas"/>
              </a:defRPr>
            </a:pPr>
            <a:r>
              <a:t>1. VEHICLE TELEMETRY COLLECTION LAYER</a:t>
            </a:r>
          </a:p>
          <a:p>
            <a:pPr>
              <a:defRPr sz="1050">
                <a:solidFill>
                  <a:srgbClr val="F0EFED"/>
                </a:solidFill>
                <a:latin typeface="Arial"/>
              </a:defRPr>
            </a:pPr>
            <a:r>
              <a:t>Hardware Loggers &amp; OBD-II / CAN bus sensors collect raw engine, fuel, and electrical metrics without active cellular connection.</a:t>
            </a:r>
          </a:p>
        </p:txBody>
      </p:sp>
      <p:sp>
        <p:nvSpPr>
          <p:cNvPr id="7" name="Rounded Rectangle 6"/>
          <p:cNvSpPr/>
          <p:nvPr/>
        </p:nvSpPr>
        <p:spPr>
          <a:xfrm>
            <a:off x="731520" y="2697480"/>
            <a:ext cx="10725912" cy="987552"/>
          </a:xfrm>
          <a:prstGeom prst="roundRect">
            <a:avLst/>
          </a:prstGeom>
          <a:solidFill>
            <a:srgbClr val="000000"/>
          </a:solidFill>
          <a:ln w="12700">
            <a:solidFill>
              <a:srgbClr val="4C4643"/>
            </a:solidFill>
          </a:ln>
        </p:spPr>
        <p:style>
          <a:lnRef idx="1">
            <a:schemeClr val="accent1"/>
          </a:lnRef>
          <a:fillRef idx="3">
            <a:schemeClr val="accent1"/>
          </a:fillRef>
          <a:effectRef idx="2">
            <a:schemeClr val="accent1"/>
          </a:effectRef>
          <a:fontRef idx="minor">
            <a:schemeClr val="lt1"/>
          </a:fontRef>
        </p:style>
        <p:txBody>
          <a:bodyPr wrap="square" lIns="274320" tIns="164592" rtlCol="0" anchor="ctr"/>
          <a:lstStyle/>
          <a:p>
            <a:pPr algn="ctr">
              <a:defRPr sz="1200" b="1">
                <a:solidFill>
                  <a:srgbClr val="F0EFED"/>
                </a:solidFill>
                <a:latin typeface="Consolas"/>
              </a:defRPr>
            </a:pPr>
            <a:r>
              <a:t>2. INGESTION, PARSING &amp; DERIVATION ENGINE</a:t>
            </a:r>
          </a:p>
          <a:p>
            <a:pPr>
              <a:defRPr sz="1050">
                <a:solidFill>
                  <a:srgbClr val="F0EFED"/>
                </a:solidFill>
                <a:latin typeface="Arial"/>
              </a:defRPr>
            </a:pPr>
            <a:r>
              <a:t>FastAPI backend validates columns, computes derived Horsepower &amp; km/L, handles aliases, and flags anomalous records into SQLite / PostgreSQL.</a:t>
            </a:r>
          </a:p>
        </p:txBody>
      </p:sp>
      <p:sp>
        <p:nvSpPr>
          <p:cNvPr id="8" name="Rounded Rectangle 7"/>
          <p:cNvSpPr/>
          <p:nvPr/>
        </p:nvSpPr>
        <p:spPr>
          <a:xfrm>
            <a:off x="731520" y="3840480"/>
            <a:ext cx="10725912" cy="987552"/>
          </a:xfrm>
          <a:prstGeom prst="roundRect">
            <a:avLst/>
          </a:prstGeom>
          <a:solidFill>
            <a:srgbClr val="000000"/>
          </a:solidFill>
          <a:ln w="19050">
            <a:solidFill>
              <a:srgbClr val="A5A78F"/>
            </a:solidFill>
          </a:ln>
        </p:spPr>
        <p:style>
          <a:lnRef idx="1">
            <a:schemeClr val="accent1"/>
          </a:lnRef>
          <a:fillRef idx="3">
            <a:schemeClr val="accent1"/>
          </a:fillRef>
          <a:effectRef idx="2">
            <a:schemeClr val="accent1"/>
          </a:effectRef>
          <a:fontRef idx="minor">
            <a:schemeClr val="lt1"/>
          </a:fontRef>
        </p:style>
        <p:txBody>
          <a:bodyPr wrap="square" lIns="274320" tIns="164592" rtlCol="0" anchor="ctr"/>
          <a:lstStyle/>
          <a:p>
            <a:pPr algn="ctr">
              <a:defRPr sz="1200" b="1">
                <a:solidFill>
                  <a:srgbClr val="A5A78F"/>
                </a:solidFill>
                <a:latin typeface="Consolas"/>
              </a:defRPr>
            </a:pPr>
            <a:r>
              <a:t>3. ANALYTICAL INTELLIGENCE &amp; HEURISTIC AGENTS</a:t>
            </a:r>
          </a:p>
          <a:p>
            <a:pPr>
              <a:defRPr sz="1050">
                <a:solidFill>
                  <a:srgbClr val="F0EFED"/>
                </a:solidFill>
                <a:latin typeface="Arial"/>
              </a:defRPr>
            </a:pPr>
            <a:r>
              <a:t>Four dedicated engines: Rules Diagnostics, Statistical Engine (OLS + Bins), Trip Planner Simulation, and Volumetric Mileage Factor Attribution.</a:t>
            </a:r>
          </a:p>
        </p:txBody>
      </p:sp>
      <p:sp>
        <p:nvSpPr>
          <p:cNvPr id="9" name="Rounded Rectangle 8"/>
          <p:cNvSpPr/>
          <p:nvPr/>
        </p:nvSpPr>
        <p:spPr>
          <a:xfrm>
            <a:off x="731520" y="4983480"/>
            <a:ext cx="10725912" cy="987552"/>
          </a:xfrm>
          <a:prstGeom prst="roundRect">
            <a:avLst/>
          </a:prstGeom>
          <a:solidFill>
            <a:srgbClr val="000000"/>
          </a:solidFill>
          <a:ln w="12700">
            <a:solidFill>
              <a:srgbClr val="4C4643"/>
            </a:solidFill>
          </a:ln>
        </p:spPr>
        <p:style>
          <a:lnRef idx="1">
            <a:schemeClr val="accent1"/>
          </a:lnRef>
          <a:fillRef idx="3">
            <a:schemeClr val="accent1"/>
          </a:fillRef>
          <a:effectRef idx="2">
            <a:schemeClr val="accent1"/>
          </a:effectRef>
          <a:fontRef idx="minor">
            <a:schemeClr val="lt1"/>
          </a:fontRef>
        </p:style>
        <p:txBody>
          <a:bodyPr wrap="square" lIns="274320" tIns="164592" rtlCol="0" anchor="ctr"/>
          <a:lstStyle/>
          <a:p>
            <a:pPr algn="ctr">
              <a:defRPr sz="1200" b="1">
                <a:solidFill>
                  <a:srgbClr val="F0EFED"/>
                </a:solidFill>
                <a:latin typeface="Consolas"/>
              </a:defRPr>
            </a:pPr>
            <a:r>
              <a:t>4. PRESENTATION &amp; AUDIT EXPORT LAYER</a:t>
            </a:r>
          </a:p>
          <a:p>
            <a:pPr>
              <a:defRPr sz="1050">
                <a:solidFill>
                  <a:srgbClr val="F0EFED"/>
                </a:solidFill>
                <a:latin typeface="Arial"/>
              </a:defRPr>
            </a:pPr>
            <a:r>
              <a:t>Vite + React + Tailwind + Recharts frontend with instant Owner/Mechanic mode toggle, ReportLab PDF generator, and RFC 4180 CSV export.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1005840"/>
          </a:xfrm>
          <a:prstGeom prst="rect">
            <a:avLst/>
          </a:prstGeom>
          <a:noFill/>
        </p:spPr>
        <p:txBody>
          <a:bodyPr wrap="square" lIns="0" tIns="0" rIns="0" bIns="0">
            <a:spAutoFit/>
          </a:bodyPr>
          <a:lstStyle/>
          <a:p>
            <a:pPr>
              <a:defRPr sz="1000" b="1">
                <a:solidFill>
                  <a:srgbClr val="A5A78F"/>
                </a:solidFill>
                <a:latin typeface="Consolas"/>
              </a:defRPr>
            </a:pPr>
            <a:r>
              <a:t>03 / MATHEMATICAL FORMULATION</a:t>
            </a:r>
          </a:p>
          <a:p>
            <a:pPr>
              <a:defRPr sz="2200" b="1">
                <a:solidFill>
                  <a:srgbClr val="F0EFED"/>
                </a:solidFill>
                <a:latin typeface="Arial"/>
              </a:defRPr>
            </a:pPr>
            <a:r>
              <a:t>Mathematical Formulas &amp; Physics Modeling</a:t>
            </a:r>
          </a:p>
          <a:p>
            <a:pPr>
              <a:defRPr sz="1100">
                <a:solidFill>
                  <a:srgbClr val="A5A78F"/>
                </a:solidFill>
                <a:latin typeface="Arial"/>
              </a:defRPr>
            </a:pPr>
            <a:r>
              <a:t>Exact deterministic equations powering derived metrics, statistical spectrums, and health scoring</a:t>
            </a:r>
          </a:p>
        </p:txBody>
      </p:sp>
      <p:sp>
        <p:nvSpPr>
          <p:cNvPr id="4" name="Rectangle 3"/>
          <p:cNvSpPr/>
          <p:nvPr/>
        </p:nvSpPr>
        <p:spPr>
          <a:xfrm>
            <a:off x="731520" y="6400800"/>
            <a:ext cx="10728655" cy="18288"/>
          </a:xfrm>
          <a:prstGeom prst="rect">
            <a:avLst/>
          </a:prstGeom>
          <a:solidFill>
            <a:srgbClr val="4C46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10698480" cy="320040"/>
          </a:xfrm>
          <a:prstGeom prst="rect">
            <a:avLst/>
          </a:prstGeom>
          <a:noFill/>
        </p:spPr>
        <p:txBody>
          <a:bodyPr wrap="none">
            <a:spAutoFit/>
          </a:bodyPr>
          <a:lstStyle/>
          <a:p>
            <a:pPr>
              <a:defRPr sz="900">
                <a:solidFill>
                  <a:srgbClr val="A5A78F"/>
                </a:solidFill>
                <a:latin typeface="Consolas"/>
              </a:defRPr>
            </a:pPr>
            <a:r>
              <a:t>YANAMA – Automotive Intelligence &amp; Analytics Web Platform | Confidential Engineering Specification</a:t>
            </a:r>
          </a:p>
        </p:txBody>
      </p:sp>
      <p:sp>
        <p:nvSpPr>
          <p:cNvPr id="6" name="Rounded Rectangle 5"/>
          <p:cNvSpPr/>
          <p:nvPr/>
        </p:nvSpPr>
        <p:spPr>
          <a:xfrm>
            <a:off x="731520" y="1508760"/>
            <a:ext cx="10725912" cy="841248"/>
          </a:xfrm>
          <a:prstGeom prst="roundRect">
            <a:avLst/>
          </a:prstGeom>
          <a:solidFill>
            <a:srgbClr val="000000"/>
          </a:solidFill>
          <a:ln>
            <a:solidFill>
              <a:srgbClr val="4C4643"/>
            </a:solidFill>
          </a:ln>
        </p:spPr>
        <p:style>
          <a:lnRef idx="1">
            <a:schemeClr val="accent1"/>
          </a:lnRef>
          <a:fillRef idx="3">
            <a:schemeClr val="accent1"/>
          </a:fillRef>
          <a:effectRef idx="2">
            <a:schemeClr val="accent1"/>
          </a:effectRef>
          <a:fontRef idx="minor">
            <a:schemeClr val="lt1"/>
          </a:fontRef>
        </p:style>
        <p:txBody>
          <a:bodyPr wrap="square" lIns="228600" tIns="109728" rtlCol="0" anchor="ctr"/>
          <a:lstStyle/>
          <a:p>
            <a:pPr algn="ctr">
              <a:defRPr sz="1100" b="1">
                <a:solidFill>
                  <a:srgbClr val="A5A78F"/>
                </a:solidFill>
                <a:latin typeface="Consolas"/>
              </a:defRPr>
            </a:pPr>
            <a:r>
              <a:t>DERIVED METRIC HORSEPOWER (HP):   </a:t>
            </a:r>
            <a:r>
              <a:rPr b="1">
                <a:solidFill>
                  <a:srgbClr val="F0EFED"/>
                </a:solidFill>
                <a:latin typeface="Consolas"/>
              </a:rPr>
              <a:t>HP = (Torque_Nm * RPM) / 7120.7</a:t>
            </a:r>
          </a:p>
          <a:p>
            <a:pPr>
              <a:defRPr sz="1000">
                <a:solidFill>
                  <a:srgbClr val="F0EFED"/>
                </a:solidFill>
                <a:latin typeface="Arial"/>
              </a:defRPr>
            </a:pPr>
            <a:r>
              <a:t>Computes metric brake horsepower dynamically from instantaneous torque (Nm) and engine revolutions per minute (RPM).</a:t>
            </a:r>
          </a:p>
        </p:txBody>
      </p:sp>
      <p:sp>
        <p:nvSpPr>
          <p:cNvPr id="7" name="Rounded Rectangle 6"/>
          <p:cNvSpPr/>
          <p:nvPr/>
        </p:nvSpPr>
        <p:spPr>
          <a:xfrm>
            <a:off x="731520" y="2441448"/>
            <a:ext cx="10725912" cy="841248"/>
          </a:xfrm>
          <a:prstGeom prst="roundRect">
            <a:avLst/>
          </a:prstGeom>
          <a:solidFill>
            <a:srgbClr val="000000"/>
          </a:solidFill>
          <a:ln>
            <a:solidFill>
              <a:srgbClr val="4C4643"/>
            </a:solidFill>
          </a:ln>
        </p:spPr>
        <p:style>
          <a:lnRef idx="1">
            <a:schemeClr val="accent1"/>
          </a:lnRef>
          <a:fillRef idx="3">
            <a:schemeClr val="accent1"/>
          </a:fillRef>
          <a:effectRef idx="2">
            <a:schemeClr val="accent1"/>
          </a:effectRef>
          <a:fontRef idx="minor">
            <a:schemeClr val="lt1"/>
          </a:fontRef>
        </p:style>
        <p:txBody>
          <a:bodyPr wrap="square" lIns="228600" tIns="109728" rtlCol="0" anchor="ctr"/>
          <a:lstStyle/>
          <a:p>
            <a:pPr algn="ctr">
              <a:defRPr sz="1100" b="1">
                <a:solidFill>
                  <a:srgbClr val="A5A78F"/>
                </a:solidFill>
                <a:latin typeface="Consolas"/>
              </a:defRPr>
            </a:pPr>
            <a:r>
              <a:t>INSTANTANEOUS &amp; TRIP MILEAGE (KM/L):   </a:t>
            </a:r>
            <a:r>
              <a:rPr b="1">
                <a:solidFill>
                  <a:srgbClr val="F0EFED"/>
                </a:solidFill>
                <a:latin typeface="Consolas"/>
              </a:rPr>
              <a:t>Mileage = Speed_kmph / FuelRate_Lph</a:t>
            </a:r>
          </a:p>
          <a:p>
            <a:pPr>
              <a:defRPr sz="1000">
                <a:solidFill>
                  <a:srgbClr val="F0EFED"/>
                </a:solidFill>
                <a:latin typeface="Arial"/>
              </a:defRPr>
            </a:pPr>
            <a:r>
              <a:t>Calculates instantaneous fuel economy in kilometers per liter when fuel rate &gt; 0.05 L/h, with physics capping at 40.0 km/L.</a:t>
            </a:r>
          </a:p>
        </p:txBody>
      </p:sp>
      <p:sp>
        <p:nvSpPr>
          <p:cNvPr id="8" name="Rounded Rectangle 7"/>
          <p:cNvSpPr/>
          <p:nvPr/>
        </p:nvSpPr>
        <p:spPr>
          <a:xfrm>
            <a:off x="731520" y="3374136"/>
            <a:ext cx="10725912" cy="841248"/>
          </a:xfrm>
          <a:prstGeom prst="roundRect">
            <a:avLst/>
          </a:prstGeom>
          <a:solidFill>
            <a:srgbClr val="000000"/>
          </a:solidFill>
          <a:ln>
            <a:solidFill>
              <a:srgbClr val="4C4643"/>
            </a:solidFill>
          </a:ln>
        </p:spPr>
        <p:style>
          <a:lnRef idx="1">
            <a:schemeClr val="accent1"/>
          </a:lnRef>
          <a:fillRef idx="3">
            <a:schemeClr val="accent1"/>
          </a:fillRef>
          <a:effectRef idx="2">
            <a:schemeClr val="accent1"/>
          </a:effectRef>
          <a:fontRef idx="minor">
            <a:schemeClr val="lt1"/>
          </a:fontRef>
        </p:style>
        <p:txBody>
          <a:bodyPr wrap="square" lIns="228600" tIns="109728" rtlCol="0" anchor="ctr"/>
          <a:lstStyle/>
          <a:p>
            <a:pPr algn="ctr">
              <a:defRPr sz="1100" b="1">
                <a:solidFill>
                  <a:srgbClr val="A5A78F"/>
                </a:solidFill>
                <a:latin typeface="Consolas"/>
              </a:defRPr>
            </a:pPr>
            <a:r>
              <a:t>OLS LINEAR REGRESSION SLOPE (M):   </a:t>
            </a:r>
            <a:r>
              <a:rPr b="1">
                <a:solidFill>
                  <a:srgbClr val="F0EFED"/>
                </a:solidFill>
                <a:latin typeface="Consolas"/>
              </a:rPr>
              <a:t>m = [N*sum(xy) - sum(x)*sum(y)] / [N*sum(x^2) - (sum(x))^2]</a:t>
            </a:r>
          </a:p>
          <a:p>
            <a:pPr>
              <a:defRPr sz="1000">
                <a:solidFill>
                  <a:srgbClr val="F0EFED"/>
                </a:solidFill>
                <a:latin typeface="Arial"/>
              </a:defRPr>
            </a:pPr>
            <a:r>
              <a:t>Ordinary Least Squares regression over telemetry sample sequence to identify parametric drift direction (increasing/decreasing).</a:t>
            </a:r>
          </a:p>
        </p:txBody>
      </p:sp>
      <p:sp>
        <p:nvSpPr>
          <p:cNvPr id="9" name="Rounded Rectangle 8"/>
          <p:cNvSpPr/>
          <p:nvPr/>
        </p:nvSpPr>
        <p:spPr>
          <a:xfrm>
            <a:off x="731520" y="4306824"/>
            <a:ext cx="10725912" cy="841248"/>
          </a:xfrm>
          <a:prstGeom prst="roundRect">
            <a:avLst/>
          </a:prstGeom>
          <a:solidFill>
            <a:srgbClr val="000000"/>
          </a:solidFill>
          <a:ln>
            <a:solidFill>
              <a:srgbClr val="4C4643"/>
            </a:solidFill>
          </a:ln>
        </p:spPr>
        <p:style>
          <a:lnRef idx="1">
            <a:schemeClr val="accent1"/>
          </a:lnRef>
          <a:fillRef idx="3">
            <a:schemeClr val="accent1"/>
          </a:fillRef>
          <a:effectRef idx="2">
            <a:schemeClr val="accent1"/>
          </a:effectRef>
          <a:fontRef idx="minor">
            <a:schemeClr val="lt1"/>
          </a:fontRef>
        </p:style>
        <p:txBody>
          <a:bodyPr wrap="square" lIns="228600" tIns="109728" rtlCol="0" anchor="ctr"/>
          <a:lstStyle/>
          <a:p>
            <a:pPr algn="ctr">
              <a:defRPr sz="1100" b="1">
                <a:solidFill>
                  <a:srgbClr val="A5A78F"/>
                </a:solidFill>
                <a:latin typeface="Consolas"/>
              </a:defRPr>
            </a:pPr>
            <a:r>
              <a:t>TELEMETRY ANOMALY Z-SCORE:   </a:t>
            </a:r>
            <a:r>
              <a:rPr b="1">
                <a:solidFill>
                  <a:srgbClr val="F0EFED"/>
                </a:solidFill>
                <a:latin typeface="Consolas"/>
              </a:rPr>
              <a:t>Z = |x_i - mean| / std_dev, Flag if Z &gt; 2.2</a:t>
            </a:r>
          </a:p>
          <a:p>
            <a:pPr>
              <a:defRPr sz="1000">
                <a:solidFill>
                  <a:srgbClr val="F0EFED"/>
                </a:solidFill>
                <a:latin typeface="Arial"/>
              </a:defRPr>
            </a:pPr>
            <a:r>
              <a:t>Quantifies deviation from gaussian normal distribution to isolate transient spikes, sensor dropouts, and thermal runaways.</a:t>
            </a:r>
          </a:p>
        </p:txBody>
      </p:sp>
      <p:sp>
        <p:nvSpPr>
          <p:cNvPr id="10" name="Rounded Rectangle 9"/>
          <p:cNvSpPr/>
          <p:nvPr/>
        </p:nvSpPr>
        <p:spPr>
          <a:xfrm>
            <a:off x="731520" y="5239512"/>
            <a:ext cx="10725912" cy="841248"/>
          </a:xfrm>
          <a:prstGeom prst="roundRect">
            <a:avLst/>
          </a:prstGeom>
          <a:solidFill>
            <a:srgbClr val="000000"/>
          </a:solidFill>
          <a:ln>
            <a:solidFill>
              <a:srgbClr val="4C4643"/>
            </a:solidFill>
          </a:ln>
        </p:spPr>
        <p:style>
          <a:lnRef idx="1">
            <a:schemeClr val="accent1"/>
          </a:lnRef>
          <a:fillRef idx="3">
            <a:schemeClr val="accent1"/>
          </a:fillRef>
          <a:effectRef idx="2">
            <a:schemeClr val="accent1"/>
          </a:effectRef>
          <a:fontRef idx="minor">
            <a:schemeClr val="lt1"/>
          </a:fontRef>
        </p:style>
        <p:txBody>
          <a:bodyPr wrap="square" lIns="228600" tIns="109728" rtlCol="0" anchor="ctr"/>
          <a:lstStyle/>
          <a:p>
            <a:pPr algn="ctr">
              <a:defRPr sz="1100" b="1">
                <a:solidFill>
                  <a:srgbClr val="A5A78F"/>
                </a:solidFill>
                <a:latin typeface="Consolas"/>
              </a:defRPr>
            </a:pPr>
            <a:r>
              <a:t>MULTI-SUBSYSTEM HEALTH SCORE:   </a:t>
            </a:r>
            <a:r>
              <a:rPr b="1">
                <a:solidFill>
                  <a:srgbClr val="F0EFED"/>
                </a:solidFill>
                <a:latin typeface="Consolas"/>
              </a:rPr>
              <a:t>Score = 0.25*Engine + 0.25*Diag + 0.20*Maint + 0.15*Elec + 0.15*Fuel</a:t>
            </a:r>
          </a:p>
          <a:p>
            <a:pPr>
              <a:defRPr sz="1000">
                <a:solidFill>
                  <a:srgbClr val="F0EFED"/>
                </a:solidFill>
                <a:latin typeface="Arial"/>
              </a:defRPr>
            </a:pPr>
            <a:r>
              <a:t>Weighted composite health index (0 to 100) assessing thermal stress, active fault rules, overdue service km, battery health, and mileage.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1005840"/>
          </a:xfrm>
          <a:prstGeom prst="rect">
            <a:avLst/>
          </a:prstGeom>
          <a:noFill/>
        </p:spPr>
        <p:txBody>
          <a:bodyPr wrap="square" lIns="0" tIns="0" rIns="0" bIns="0">
            <a:spAutoFit/>
          </a:bodyPr>
          <a:lstStyle/>
          <a:p>
            <a:pPr>
              <a:defRPr sz="1000" b="1">
                <a:solidFill>
                  <a:srgbClr val="A5A78F"/>
                </a:solidFill>
                <a:latin typeface="Consolas"/>
              </a:defRPr>
            </a:pPr>
            <a:r>
              <a:t>04 / AI INTELLIGENCE AGENTS</a:t>
            </a:r>
          </a:p>
          <a:p>
            <a:pPr>
              <a:defRPr sz="2200" b="1">
                <a:solidFill>
                  <a:srgbClr val="F0EFED"/>
                </a:solidFill>
                <a:latin typeface="Arial"/>
              </a:defRPr>
            </a:pPr>
            <a:r>
              <a:t>AI Models &amp; Heuristic Intelligence Architecture</a:t>
            </a:r>
          </a:p>
          <a:p>
            <a:pPr>
              <a:defRPr sz="1100">
                <a:solidFill>
                  <a:srgbClr val="A5A78F"/>
                </a:solidFill>
                <a:latin typeface="Arial"/>
              </a:defRPr>
            </a:pPr>
            <a:r>
              <a:t>Deterministic, explainable rule-based intelligence agents eliminating LLM hallucinations</a:t>
            </a:r>
          </a:p>
        </p:txBody>
      </p:sp>
      <p:sp>
        <p:nvSpPr>
          <p:cNvPr id="4" name="Rectangle 3"/>
          <p:cNvSpPr/>
          <p:nvPr/>
        </p:nvSpPr>
        <p:spPr>
          <a:xfrm>
            <a:off x="731520" y="6400800"/>
            <a:ext cx="10728655" cy="18288"/>
          </a:xfrm>
          <a:prstGeom prst="rect">
            <a:avLst/>
          </a:prstGeom>
          <a:solidFill>
            <a:srgbClr val="4C46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10698480" cy="320040"/>
          </a:xfrm>
          <a:prstGeom prst="rect">
            <a:avLst/>
          </a:prstGeom>
          <a:noFill/>
        </p:spPr>
        <p:txBody>
          <a:bodyPr wrap="none">
            <a:spAutoFit/>
          </a:bodyPr>
          <a:lstStyle/>
          <a:p>
            <a:pPr>
              <a:defRPr sz="900">
                <a:solidFill>
                  <a:srgbClr val="A5A78F"/>
                </a:solidFill>
                <a:latin typeface="Consolas"/>
              </a:defRPr>
            </a:pPr>
            <a:r>
              <a:t>YANAMA – Automotive Intelligence &amp; Analytics Web Platform | Confidential Engineering Specification</a:t>
            </a:r>
          </a:p>
        </p:txBody>
      </p:sp>
      <p:sp>
        <p:nvSpPr>
          <p:cNvPr id="6" name="Rounded Rectangle 5"/>
          <p:cNvSpPr/>
          <p:nvPr/>
        </p:nvSpPr>
        <p:spPr>
          <a:xfrm>
            <a:off x="731520" y="1554480"/>
            <a:ext cx="5212080" cy="2103120"/>
          </a:xfrm>
          <a:prstGeom prst="roundRect">
            <a:avLst/>
          </a:prstGeom>
          <a:solidFill>
            <a:srgbClr val="000000"/>
          </a:solidFill>
          <a:ln>
            <a:solidFill>
              <a:srgbClr val="4C4643"/>
            </a:solidFill>
          </a:ln>
        </p:spPr>
        <p:style>
          <a:lnRef idx="1">
            <a:schemeClr val="accent1"/>
          </a:lnRef>
          <a:fillRef idx="3">
            <a:schemeClr val="accent1"/>
          </a:fillRef>
          <a:effectRef idx="2">
            <a:schemeClr val="accent1"/>
          </a:effectRef>
          <a:fontRef idx="minor">
            <a:schemeClr val="lt1"/>
          </a:fontRef>
        </p:style>
        <p:txBody>
          <a:bodyPr wrap="square" lIns="228600" tIns="228600" rtlCol="0" anchor="ctr"/>
          <a:lstStyle/>
          <a:p>
            <a:pPr algn="ctr">
              <a:defRPr sz="1200" b="1">
                <a:solidFill>
                  <a:srgbClr val="A5A78F"/>
                </a:solidFill>
                <a:latin typeface="Consolas"/>
              </a:defRPr>
            </a:pPr>
            <a:r>
              <a:t>AI STATISTICAL ENGINE AGENT</a:t>
            </a:r>
          </a:p>
          <a:p>
            <a:pPr>
              <a:defRPr sz="950">
                <a:solidFill>
                  <a:srgbClr val="F0EFED"/>
                </a:solidFill>
                <a:latin typeface="Consolas"/>
              </a:defRPr>
            </a:pPr>
            <a:r>
              <a:t>Module: app/services/advanced/statistical_engine.py</a:t>
            </a:r>
          </a:p>
          <a:p>
            <a:pPr>
              <a:spcBef>
                <a:spcPts val="800"/>
              </a:spcBef>
              <a:defRPr sz="1000">
                <a:solidFill>
                  <a:srgbClr val="F0EFED"/>
                </a:solidFill>
                <a:latin typeface="Arial"/>
              </a:defRPr>
            </a:pPr>
            <a:r>
              <a:t>Contextualizes distribution metrics (median, IQR, P95, regression slope) into natural language. In Owner mode, clarifies driving habits and engine longevity. In Mechanic mode, details BSFC islands, valve train harmonics, and thermal hysteresis.</a:t>
            </a:r>
          </a:p>
        </p:txBody>
      </p:sp>
      <p:sp>
        <p:nvSpPr>
          <p:cNvPr id="7" name="Rounded Rectangle 6"/>
          <p:cNvSpPr/>
          <p:nvPr/>
        </p:nvSpPr>
        <p:spPr>
          <a:xfrm>
            <a:off x="6217920" y="1554480"/>
            <a:ext cx="5212080" cy="2103120"/>
          </a:xfrm>
          <a:prstGeom prst="roundRect">
            <a:avLst/>
          </a:prstGeom>
          <a:solidFill>
            <a:srgbClr val="000000"/>
          </a:solidFill>
          <a:ln>
            <a:solidFill>
              <a:srgbClr val="4C4643"/>
            </a:solidFill>
          </a:ln>
        </p:spPr>
        <p:style>
          <a:lnRef idx="1">
            <a:schemeClr val="accent1"/>
          </a:lnRef>
          <a:fillRef idx="3">
            <a:schemeClr val="accent1"/>
          </a:fillRef>
          <a:effectRef idx="2">
            <a:schemeClr val="accent1"/>
          </a:effectRef>
          <a:fontRef idx="minor">
            <a:schemeClr val="lt1"/>
          </a:fontRef>
        </p:style>
        <p:txBody>
          <a:bodyPr wrap="square" lIns="228600" tIns="228600" rtlCol="0" anchor="ctr"/>
          <a:lstStyle/>
          <a:p>
            <a:pPr algn="ctr">
              <a:defRPr sz="1200" b="1">
                <a:solidFill>
                  <a:srgbClr val="A5A78F"/>
                </a:solidFill>
                <a:latin typeface="Consolas"/>
              </a:defRPr>
            </a:pPr>
            <a:r>
              <a:t>AI TRIP READINESS AGENT</a:t>
            </a:r>
          </a:p>
          <a:p>
            <a:pPr>
              <a:defRPr sz="950">
                <a:solidFill>
                  <a:srgbClr val="F0EFED"/>
                </a:solidFill>
                <a:latin typeface="Consolas"/>
              </a:defRPr>
            </a:pPr>
            <a:r>
              <a:t>Module: app/services/advanced/trip_simulator.py</a:t>
            </a:r>
          </a:p>
          <a:p>
            <a:pPr>
              <a:spcBef>
                <a:spcPts val="800"/>
              </a:spcBef>
              <a:defRPr sz="1000">
                <a:solidFill>
                  <a:srgbClr val="F0EFED"/>
                </a:solidFill>
                <a:latin typeface="Arial"/>
              </a:defRPr>
            </a:pPr>
            <a:r>
              <a:t>Simulates vehicle condition across Highway, City, and Mountain terrains under varying payloads. Evaluates active faults (e.g. coolant spikes, battery sulfation) to generate a mandatory vs recommended workshop checklist and estimated fuel savings.</a:t>
            </a:r>
          </a:p>
        </p:txBody>
      </p:sp>
      <p:sp>
        <p:nvSpPr>
          <p:cNvPr id="8" name="Rounded Rectangle 7"/>
          <p:cNvSpPr/>
          <p:nvPr/>
        </p:nvSpPr>
        <p:spPr>
          <a:xfrm>
            <a:off x="731520" y="3840480"/>
            <a:ext cx="5212080" cy="2103120"/>
          </a:xfrm>
          <a:prstGeom prst="roundRect">
            <a:avLst/>
          </a:prstGeom>
          <a:solidFill>
            <a:srgbClr val="000000"/>
          </a:solidFill>
          <a:ln>
            <a:solidFill>
              <a:srgbClr val="4C4643"/>
            </a:solidFill>
          </a:ln>
        </p:spPr>
        <p:style>
          <a:lnRef idx="1">
            <a:schemeClr val="accent1"/>
          </a:lnRef>
          <a:fillRef idx="3">
            <a:schemeClr val="accent1"/>
          </a:fillRef>
          <a:effectRef idx="2">
            <a:schemeClr val="accent1"/>
          </a:effectRef>
          <a:fontRef idx="minor">
            <a:schemeClr val="lt1"/>
          </a:fontRef>
        </p:style>
        <p:txBody>
          <a:bodyPr wrap="square" lIns="228600" tIns="228600" rtlCol="0" anchor="ctr"/>
          <a:lstStyle/>
          <a:p>
            <a:pPr algn="ctr">
              <a:defRPr sz="1200" b="1">
                <a:solidFill>
                  <a:srgbClr val="A5A78F"/>
                </a:solidFill>
                <a:latin typeface="Consolas"/>
              </a:defRPr>
            </a:pPr>
            <a:r>
              <a:t>AI MILEAGE OPTIMIZER AGENT</a:t>
            </a:r>
          </a:p>
          <a:p>
            <a:pPr>
              <a:defRPr sz="950">
                <a:solidFill>
                  <a:srgbClr val="F0EFED"/>
                </a:solidFill>
                <a:latin typeface="Consolas"/>
              </a:defRPr>
            </a:pPr>
            <a:r>
              <a:t>Module: app/services/advanced/mileage_analyzer.py</a:t>
            </a:r>
          </a:p>
          <a:p>
            <a:pPr>
              <a:spcBef>
                <a:spcPts val="800"/>
              </a:spcBef>
              <a:defRPr sz="1000">
                <a:solidFill>
                  <a:srgbClr val="F0EFED"/>
                </a:solidFill>
                <a:latin typeface="Arial"/>
              </a:defRPr>
            </a:pPr>
            <a:r>
              <a:t>Correlates throttle position, engine temperature, and service history to attribute fuel economy loss to aggressive throttle (-1.8 km/L), lubrication drag (-1.4 km/L), or thermal loss (-0.9 km/L). Recommends 4 quantified recovery actions (+3.5 km/L).</a:t>
            </a:r>
          </a:p>
        </p:txBody>
      </p:sp>
      <p:sp>
        <p:nvSpPr>
          <p:cNvPr id="9" name="Rounded Rectangle 8"/>
          <p:cNvSpPr/>
          <p:nvPr/>
        </p:nvSpPr>
        <p:spPr>
          <a:xfrm>
            <a:off x="6217920" y="3840480"/>
            <a:ext cx="5212080" cy="2103120"/>
          </a:xfrm>
          <a:prstGeom prst="roundRect">
            <a:avLst/>
          </a:prstGeom>
          <a:solidFill>
            <a:srgbClr val="000000"/>
          </a:solidFill>
          <a:ln>
            <a:solidFill>
              <a:srgbClr val="4C4643"/>
            </a:solidFill>
          </a:ln>
        </p:spPr>
        <p:style>
          <a:lnRef idx="1">
            <a:schemeClr val="accent1"/>
          </a:lnRef>
          <a:fillRef idx="3">
            <a:schemeClr val="accent1"/>
          </a:fillRef>
          <a:effectRef idx="2">
            <a:schemeClr val="accent1"/>
          </a:effectRef>
          <a:fontRef idx="minor">
            <a:schemeClr val="lt1"/>
          </a:fontRef>
        </p:style>
        <p:txBody>
          <a:bodyPr wrap="square" lIns="228600" tIns="228600" rtlCol="0" anchor="ctr"/>
          <a:lstStyle/>
          <a:p>
            <a:pPr algn="ctr">
              <a:defRPr sz="1200" b="1">
                <a:solidFill>
                  <a:srgbClr val="A5A78F"/>
                </a:solidFill>
                <a:latin typeface="Consolas"/>
              </a:defRPr>
            </a:pPr>
            <a:r>
              <a:t>RULE-BASED DIAGNOSTIC MATRIX</a:t>
            </a:r>
          </a:p>
          <a:p>
            <a:pPr>
              <a:defRPr sz="950">
                <a:solidFill>
                  <a:srgbClr val="F0EFED"/>
                </a:solidFill>
                <a:latin typeface="Consolas"/>
              </a:defRPr>
            </a:pPr>
            <a:r>
              <a:t>Module: app/services/advanced/rules_engine.py</a:t>
            </a:r>
          </a:p>
          <a:p>
            <a:pPr>
              <a:spcBef>
                <a:spcPts val="800"/>
              </a:spcBef>
              <a:defRPr sz="1000">
                <a:solidFill>
                  <a:srgbClr val="F0EFED"/>
                </a:solidFill>
                <a:latin typeface="Arial"/>
              </a:defRPr>
            </a:pPr>
            <a:r>
              <a:t>Continuous threshold verification engine. Evaluates Coolant Overtemp (&gt;102°C), Redline Stress (&gt;5500 RPM), Battery Voltage (&lt;11.9V), and Alternator Undercharge (&lt;13.2V) to emit dual Owner/Mechanic alert payloads.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1005840"/>
          </a:xfrm>
          <a:prstGeom prst="rect">
            <a:avLst/>
          </a:prstGeom>
          <a:noFill/>
        </p:spPr>
        <p:txBody>
          <a:bodyPr wrap="square" lIns="0" tIns="0" rIns="0" bIns="0">
            <a:spAutoFit/>
          </a:bodyPr>
          <a:lstStyle/>
          <a:p>
            <a:pPr>
              <a:defRPr sz="1000" b="1">
                <a:solidFill>
                  <a:srgbClr val="A5A78F"/>
                </a:solidFill>
                <a:latin typeface="Consolas"/>
              </a:defRPr>
            </a:pPr>
            <a:r>
              <a:t>05 / CORE CODE EXCERPTS</a:t>
            </a:r>
          </a:p>
          <a:p>
            <a:pPr>
              <a:defRPr sz="2200" b="1">
                <a:solidFill>
                  <a:srgbClr val="F0EFED"/>
                </a:solidFill>
                <a:latin typeface="Arial"/>
              </a:defRPr>
            </a:pPr>
            <a:r>
              <a:t>Main Code Implementation Highlights</a:t>
            </a:r>
          </a:p>
          <a:p>
            <a:pPr>
              <a:defRPr sz="1100">
                <a:solidFill>
                  <a:srgbClr val="A5A78F"/>
                </a:solidFill>
                <a:latin typeface="Arial"/>
              </a:defRPr>
            </a:pPr>
            <a:r>
              <a:t>Python backend services implementing core mathematical and AI agent algorithms</a:t>
            </a:r>
          </a:p>
        </p:txBody>
      </p:sp>
      <p:sp>
        <p:nvSpPr>
          <p:cNvPr id="4" name="Rectangle 3"/>
          <p:cNvSpPr/>
          <p:nvPr/>
        </p:nvSpPr>
        <p:spPr>
          <a:xfrm>
            <a:off x="731520" y="6400800"/>
            <a:ext cx="10728655" cy="18288"/>
          </a:xfrm>
          <a:prstGeom prst="rect">
            <a:avLst/>
          </a:prstGeom>
          <a:solidFill>
            <a:srgbClr val="4C46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10698480" cy="320040"/>
          </a:xfrm>
          <a:prstGeom prst="rect">
            <a:avLst/>
          </a:prstGeom>
          <a:noFill/>
        </p:spPr>
        <p:txBody>
          <a:bodyPr wrap="none">
            <a:spAutoFit/>
          </a:bodyPr>
          <a:lstStyle/>
          <a:p>
            <a:pPr>
              <a:defRPr sz="900">
                <a:solidFill>
                  <a:srgbClr val="A5A78F"/>
                </a:solidFill>
                <a:latin typeface="Consolas"/>
              </a:defRPr>
            </a:pPr>
            <a:r>
              <a:t>YANAMA – Automotive Intelligence &amp; Analytics Web Platform | Confidential Engineering Specification</a:t>
            </a:r>
          </a:p>
        </p:txBody>
      </p:sp>
      <p:sp>
        <p:nvSpPr>
          <p:cNvPr id="6" name="Rounded Rectangle 5"/>
          <p:cNvSpPr/>
          <p:nvPr/>
        </p:nvSpPr>
        <p:spPr>
          <a:xfrm>
            <a:off x="731520" y="1508760"/>
            <a:ext cx="10725912" cy="4663440"/>
          </a:xfrm>
          <a:prstGeom prst="roundRect">
            <a:avLst/>
          </a:prstGeom>
          <a:solidFill>
            <a:srgbClr val="000000"/>
          </a:solidFill>
          <a:ln>
            <a:solidFill>
              <a:srgbClr val="4C4643"/>
            </a:solidFill>
          </a:ln>
        </p:spPr>
        <p:style>
          <a:lnRef idx="1">
            <a:schemeClr val="accent1"/>
          </a:lnRef>
          <a:fillRef idx="3">
            <a:schemeClr val="accent1"/>
          </a:fillRef>
          <a:effectRef idx="2">
            <a:schemeClr val="accent1"/>
          </a:effectRef>
          <a:fontRef idx="minor">
            <a:schemeClr val="lt1"/>
          </a:fontRef>
        </p:style>
        <p:txBody>
          <a:bodyPr wrap="square" lIns="274320" tIns="274320" rtlCol="0" anchor="ctr"/>
          <a:lstStyle/>
          <a:p>
            <a:pPr algn="ctr">
              <a:defRPr sz="950">
                <a:solidFill>
                  <a:srgbClr val="F0EFED"/>
                </a:solidFill>
                <a:latin typeface="Consolas"/>
              </a:defRPr>
            </a:pPr>
            <a:r>
              <a:t># 1. Statistical Engine &amp; AI Text Interpretation Generator (statistical_engine.py)</a:t>
            </a:r>
            <a:br/>
            <a:r>
              <a:t>def compute_metric_statistics(readings: List[Dict[str, Any]], metric_key: str = 'rpm'):</a:t>
            </a:r>
            <a:br/>
            <a:r>
              <a:t>    arr = np.array([float(r.get(metric_key, 0.0) or 0.0) for r in readings], dtype=float)</a:t>
            </a:r>
            <a:br/>
            <a:r>
              <a:t>    p25, p50, p75, p95 = np.percentile(arr, [25, 50, 75, 95])</a:t>
            </a:r>
            <a:br/>
            <a:r>
              <a:t>    slope, _ = np.polyfit(np.arange(len(arr)), arr, 1) if len(arr) &gt; 2 else (0.0, 0)</a:t>
            </a:r>
            <a:br/>
            <a:r>
              <a:t>    hist_counts, bin_edges = np.histogram(arr, bins=8)</a:t>
            </a:r>
            <a:br/>
            <a:r>
              <a:t>    owner_ai, mechanic_ai = generate_statistical_ai_text(metric_key, np.mean(arr), p50, p95, np.std(arr), slope)</a:t>
            </a:r>
            <a:br/>
            <a:r>
              <a:t>    return {'p50': p50, 'p95': p95, 'histogram': hist_bins, 'trend_slope': slope, 'ai_owner': owner_ai, ...}</a:t>
            </a:r>
            <a:br/>
            <a:br/>
            <a:r>
              <a:t># 2. Road Trip Simulation Engine (trip_simulator.py)</a:t>
            </a:r>
            <a:br/>
            <a:r>
              <a:t>def simulate_trip(trip_distance_km, terrain_type, load_condition, current_health_score, ...):</a:t>
            </a:r>
            <a:br/>
            <a:r>
              <a:t>    terrain_factor = {'highway': 1.15, 'city': 0.82, 'mountain': 0.72}.get(terrain_type, 1.0)</a:t>
            </a:r>
            <a:br/>
            <a:r>
              <a:t>    load_factor = {'light': 1.03, 'medium': 1.0, 'heavy': 0.88}.get(load_condition, 1.0)</a:t>
            </a:r>
            <a:br/>
            <a:r>
              <a:t>    serviced_kmpl = base_kmpl * terrain_factor * load_factor</a:t>
            </a:r>
            <a:br/>
            <a:r>
              <a:t>    current_kmpl = serviced_kmpl * (0.94 if has_oil_overdue else 1.0) * (0.95 if has_cooling_issue else 1.0)</a:t>
            </a:r>
            <a:br/>
            <a:r>
              <a:t>    fuel_savings = (trip_distance_km/current_kmpl - trip_distance_km/serviced_kmpl) * fuel_price</a:t>
            </a:r>
            <a:br/>
            <a:r>
              <a:t>    return {'current_readiness': readiness, 'serviced_readiness': 96.5, 'fuel_savings': fuel_savings,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1005840"/>
          </a:xfrm>
          <a:prstGeom prst="rect">
            <a:avLst/>
          </a:prstGeom>
          <a:noFill/>
        </p:spPr>
        <p:txBody>
          <a:bodyPr wrap="square" lIns="0" tIns="0" rIns="0" bIns="0">
            <a:spAutoFit/>
          </a:bodyPr>
          <a:lstStyle/>
          <a:p>
            <a:pPr>
              <a:defRPr sz="1000" b="1">
                <a:solidFill>
                  <a:srgbClr val="A5A78F"/>
                </a:solidFill>
                <a:latin typeface="Consolas"/>
              </a:defRPr>
            </a:pPr>
            <a:r>
              <a:t>06 / VISUALIZATION TECHNIQUES</a:t>
            </a:r>
          </a:p>
          <a:p>
            <a:pPr>
              <a:defRPr sz="2200" b="1">
                <a:solidFill>
                  <a:srgbClr val="F0EFED"/>
                </a:solidFill>
                <a:latin typeface="Arial"/>
              </a:defRPr>
            </a:pPr>
            <a:r>
              <a:t>Visualization Techniques &amp; Chart Typology</a:t>
            </a:r>
          </a:p>
          <a:p>
            <a:pPr>
              <a:defRPr sz="1100">
                <a:solidFill>
                  <a:srgbClr val="A5A78F"/>
                </a:solidFill>
                <a:latin typeface="Arial"/>
              </a:defRPr>
            </a:pPr>
            <a:r>
              <a:t>Purpose-built visual representations optimized for clear data hierarchy and cognitive clarity</a:t>
            </a:r>
          </a:p>
        </p:txBody>
      </p:sp>
      <p:sp>
        <p:nvSpPr>
          <p:cNvPr id="4" name="Rectangle 3"/>
          <p:cNvSpPr/>
          <p:nvPr/>
        </p:nvSpPr>
        <p:spPr>
          <a:xfrm>
            <a:off x="731520" y="6400800"/>
            <a:ext cx="10728655" cy="18288"/>
          </a:xfrm>
          <a:prstGeom prst="rect">
            <a:avLst/>
          </a:prstGeom>
          <a:solidFill>
            <a:srgbClr val="4C46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10698480" cy="320040"/>
          </a:xfrm>
          <a:prstGeom prst="rect">
            <a:avLst/>
          </a:prstGeom>
          <a:noFill/>
        </p:spPr>
        <p:txBody>
          <a:bodyPr wrap="none">
            <a:spAutoFit/>
          </a:bodyPr>
          <a:lstStyle/>
          <a:p>
            <a:pPr>
              <a:defRPr sz="900">
                <a:solidFill>
                  <a:srgbClr val="A5A78F"/>
                </a:solidFill>
                <a:latin typeface="Consolas"/>
              </a:defRPr>
            </a:pPr>
            <a:r>
              <a:t>YANAMA – Automotive Intelligence &amp; Analytics Web Platform | Confidential Engineering Specification</a:t>
            </a:r>
          </a:p>
        </p:txBody>
      </p:sp>
      <p:sp>
        <p:nvSpPr>
          <p:cNvPr id="6" name="Rounded Rectangle 5"/>
          <p:cNvSpPr/>
          <p:nvPr/>
        </p:nvSpPr>
        <p:spPr>
          <a:xfrm>
            <a:off x="731520" y="1554480"/>
            <a:ext cx="3410712" cy="2103120"/>
          </a:xfrm>
          <a:prstGeom prst="roundRect">
            <a:avLst/>
          </a:prstGeom>
          <a:solidFill>
            <a:srgbClr val="000000"/>
          </a:solidFill>
          <a:ln>
            <a:solidFill>
              <a:srgbClr val="4C4643"/>
            </a:solidFill>
          </a:ln>
        </p:spPr>
        <p:style>
          <a:lnRef idx="1">
            <a:schemeClr val="accent1"/>
          </a:lnRef>
          <a:fillRef idx="3">
            <a:schemeClr val="accent1"/>
          </a:fillRef>
          <a:effectRef idx="2">
            <a:schemeClr val="accent1"/>
          </a:effectRef>
          <a:fontRef idx="minor">
            <a:schemeClr val="lt1"/>
          </a:fontRef>
        </p:style>
        <p:txBody>
          <a:bodyPr wrap="square" lIns="182880" tIns="182880" rtlCol="0" anchor="ctr"/>
          <a:lstStyle/>
          <a:p>
            <a:pPr algn="ctr">
              <a:defRPr sz="1100" b="1">
                <a:solidFill>
                  <a:srgbClr val="A5A78F"/>
                </a:solidFill>
                <a:latin typeface="Consolas"/>
              </a:defRPr>
            </a:pPr>
            <a:r>
              <a:t>DUAL AREA POWER CURVES</a:t>
            </a:r>
          </a:p>
          <a:p>
            <a:pPr>
              <a:defRPr sz="950" b="1">
                <a:solidFill>
                  <a:srgbClr val="F0EFED"/>
                </a:solidFill>
                <a:latin typeface="Arial"/>
              </a:defRPr>
            </a:pPr>
            <a:r>
              <a:t>Torque (Nm) &amp; Horsepower (HP)</a:t>
            </a:r>
          </a:p>
          <a:p>
            <a:pPr>
              <a:spcBef>
                <a:spcPts val="600"/>
              </a:spcBef>
              <a:defRPr sz="950">
                <a:solidFill>
                  <a:srgbClr val="F0EFED"/>
                </a:solidFill>
                <a:latin typeface="Arial"/>
              </a:defRPr>
            </a:pPr>
            <a:r>
              <a:t>Visualizes the engine's mechanical capability across the RPM sweep. Dual gradient area fills demonstrate where peak torque plateaus before horsepower peaks.</a:t>
            </a:r>
          </a:p>
        </p:txBody>
      </p:sp>
      <p:sp>
        <p:nvSpPr>
          <p:cNvPr id="7" name="Rounded Rectangle 6"/>
          <p:cNvSpPr/>
          <p:nvPr/>
        </p:nvSpPr>
        <p:spPr>
          <a:xfrm>
            <a:off x="4389120" y="1554480"/>
            <a:ext cx="3410712" cy="2103120"/>
          </a:xfrm>
          <a:prstGeom prst="roundRect">
            <a:avLst/>
          </a:prstGeom>
          <a:solidFill>
            <a:srgbClr val="000000"/>
          </a:solidFill>
          <a:ln>
            <a:solidFill>
              <a:srgbClr val="4C4643"/>
            </a:solidFill>
          </a:ln>
        </p:spPr>
        <p:style>
          <a:lnRef idx="1">
            <a:schemeClr val="accent1"/>
          </a:lnRef>
          <a:fillRef idx="3">
            <a:schemeClr val="accent1"/>
          </a:fillRef>
          <a:effectRef idx="2">
            <a:schemeClr val="accent1"/>
          </a:effectRef>
          <a:fontRef idx="minor">
            <a:schemeClr val="lt1"/>
          </a:fontRef>
        </p:style>
        <p:txBody>
          <a:bodyPr wrap="square" lIns="182880" tIns="182880" rtlCol="0" anchor="ctr"/>
          <a:lstStyle/>
          <a:p>
            <a:pPr algn="ctr">
              <a:defRPr sz="1100" b="1">
                <a:solidFill>
                  <a:srgbClr val="A5A78F"/>
                </a:solidFill>
                <a:latin typeface="Consolas"/>
              </a:defRPr>
            </a:pPr>
            <a:r>
              <a:t>8-BIN FREQUENCY HISTOGRAMS</a:t>
            </a:r>
          </a:p>
          <a:p>
            <a:pPr>
              <a:defRPr sz="950" b="1">
                <a:solidFill>
                  <a:srgbClr val="F0EFED"/>
                </a:solidFill>
                <a:latin typeface="Arial"/>
              </a:defRPr>
            </a:pPr>
            <a:r>
              <a:t>Parametric Density Spectrum</a:t>
            </a:r>
          </a:p>
          <a:p>
            <a:pPr>
              <a:spcBef>
                <a:spcPts val="600"/>
              </a:spcBef>
              <a:defRPr sz="950">
                <a:solidFill>
                  <a:srgbClr val="F0EFED"/>
                </a:solidFill>
                <a:latin typeface="Arial"/>
              </a:defRPr>
            </a:pPr>
            <a:r>
              <a:t>Recharts BarChart binning continuous sensor data into 8 equal intervals. Instantly reveals whether driving RPM or temperatures cluster normally or skew toward high-stress tails.</a:t>
            </a:r>
          </a:p>
        </p:txBody>
      </p:sp>
      <p:sp>
        <p:nvSpPr>
          <p:cNvPr id="8" name="Rounded Rectangle 7"/>
          <p:cNvSpPr/>
          <p:nvPr/>
        </p:nvSpPr>
        <p:spPr>
          <a:xfrm>
            <a:off x="8046720" y="1554480"/>
            <a:ext cx="3410712" cy="2103120"/>
          </a:xfrm>
          <a:prstGeom prst="roundRect">
            <a:avLst/>
          </a:prstGeom>
          <a:solidFill>
            <a:srgbClr val="000000"/>
          </a:solidFill>
          <a:ln>
            <a:solidFill>
              <a:srgbClr val="4C4643"/>
            </a:solidFill>
          </a:ln>
        </p:spPr>
        <p:style>
          <a:lnRef idx="1">
            <a:schemeClr val="accent1"/>
          </a:lnRef>
          <a:fillRef idx="3">
            <a:schemeClr val="accent1"/>
          </a:fillRef>
          <a:effectRef idx="2">
            <a:schemeClr val="accent1"/>
          </a:effectRef>
          <a:fontRef idx="minor">
            <a:schemeClr val="lt1"/>
          </a:fontRef>
        </p:style>
        <p:txBody>
          <a:bodyPr wrap="square" lIns="182880" tIns="182880" rtlCol="0" anchor="ctr"/>
          <a:lstStyle/>
          <a:p>
            <a:pPr algn="ctr">
              <a:defRPr sz="1100" b="1">
                <a:solidFill>
                  <a:srgbClr val="A5A78F"/>
                </a:solidFill>
                <a:latin typeface="Consolas"/>
              </a:defRPr>
            </a:pPr>
            <a:r>
              <a:t>PERCENTILE RANGE GAUGE</a:t>
            </a:r>
          </a:p>
          <a:p>
            <a:pPr>
              <a:defRPr sz="950" b="1">
                <a:solidFill>
                  <a:srgbClr val="F0EFED"/>
                </a:solidFill>
                <a:latin typeface="Arial"/>
              </a:defRPr>
            </a:pPr>
            <a:r>
              <a:t>P25 - P50 - P75 - P95 Box Spectrum</a:t>
            </a:r>
          </a:p>
          <a:p>
            <a:pPr>
              <a:spcBef>
                <a:spcPts val="600"/>
              </a:spcBef>
              <a:defRPr sz="950">
                <a:solidFill>
                  <a:srgbClr val="F0EFED"/>
                </a:solidFill>
                <a:latin typeface="Arial"/>
              </a:defRPr>
            </a:pPr>
            <a:r>
              <a:t>Displays the core 50% interquartile operating range (IQR) alongside top 5% extreme excursions, eliminating single-reading outlier distortions.</a:t>
            </a:r>
          </a:p>
        </p:txBody>
      </p:sp>
      <p:sp>
        <p:nvSpPr>
          <p:cNvPr id="9" name="Rounded Rectangle 8"/>
          <p:cNvSpPr/>
          <p:nvPr/>
        </p:nvSpPr>
        <p:spPr>
          <a:xfrm>
            <a:off x="731520" y="3840480"/>
            <a:ext cx="3410712" cy="2103120"/>
          </a:xfrm>
          <a:prstGeom prst="roundRect">
            <a:avLst/>
          </a:prstGeom>
          <a:solidFill>
            <a:srgbClr val="000000"/>
          </a:solidFill>
          <a:ln>
            <a:solidFill>
              <a:srgbClr val="4C4643"/>
            </a:solidFill>
          </a:ln>
        </p:spPr>
        <p:style>
          <a:lnRef idx="1">
            <a:schemeClr val="accent1"/>
          </a:lnRef>
          <a:fillRef idx="3">
            <a:schemeClr val="accent1"/>
          </a:fillRef>
          <a:effectRef idx="2">
            <a:schemeClr val="accent1"/>
          </a:effectRef>
          <a:fontRef idx="minor">
            <a:schemeClr val="lt1"/>
          </a:fontRef>
        </p:style>
        <p:txBody>
          <a:bodyPr wrap="square" lIns="182880" tIns="182880" rtlCol="0" anchor="ctr"/>
          <a:lstStyle/>
          <a:p>
            <a:pPr algn="ctr">
              <a:defRPr sz="1100" b="1">
                <a:solidFill>
                  <a:srgbClr val="A5A78F"/>
                </a:solidFill>
                <a:latin typeface="Consolas"/>
              </a:defRPr>
            </a:pPr>
            <a:r>
              <a:t>SIDE-BY-SIDE DUAL STATE CARDS</a:t>
            </a:r>
          </a:p>
          <a:p>
            <a:pPr>
              <a:defRPr sz="950" b="1">
                <a:solidFill>
                  <a:srgbClr val="F0EFED"/>
                </a:solidFill>
                <a:latin typeface="Arial"/>
              </a:defRPr>
            </a:pPr>
            <a:r>
              <a:t>Current State vs Serviced State</a:t>
            </a:r>
          </a:p>
          <a:p>
            <a:pPr>
              <a:spcBef>
                <a:spcPts val="600"/>
              </a:spcBef>
              <a:defRPr sz="950">
                <a:solidFill>
                  <a:srgbClr val="F0EFED"/>
                </a:solidFill>
                <a:latin typeface="Arial"/>
              </a:defRPr>
            </a:pPr>
            <a:r>
              <a:t>Comparative KPI panels displaying readiness score deltas (e.g. 32% vs 96.5%), fuel requirement differences, and net monetary rupee savings.</a:t>
            </a:r>
          </a:p>
        </p:txBody>
      </p:sp>
      <p:sp>
        <p:nvSpPr>
          <p:cNvPr id="10" name="Rounded Rectangle 9"/>
          <p:cNvSpPr/>
          <p:nvPr/>
        </p:nvSpPr>
        <p:spPr>
          <a:xfrm>
            <a:off x="4389120" y="3840480"/>
            <a:ext cx="3410712" cy="2103120"/>
          </a:xfrm>
          <a:prstGeom prst="roundRect">
            <a:avLst/>
          </a:prstGeom>
          <a:solidFill>
            <a:srgbClr val="000000"/>
          </a:solidFill>
          <a:ln>
            <a:solidFill>
              <a:srgbClr val="4C4643"/>
            </a:solidFill>
          </a:ln>
        </p:spPr>
        <p:style>
          <a:lnRef idx="1">
            <a:schemeClr val="accent1"/>
          </a:lnRef>
          <a:fillRef idx="3">
            <a:schemeClr val="accent1"/>
          </a:fillRef>
          <a:effectRef idx="2">
            <a:schemeClr val="accent1"/>
          </a:effectRef>
          <a:fontRef idx="minor">
            <a:schemeClr val="lt1"/>
          </a:fontRef>
        </p:style>
        <p:txBody>
          <a:bodyPr wrap="square" lIns="182880" tIns="182880" rtlCol="0" anchor="ctr"/>
          <a:lstStyle/>
          <a:p>
            <a:pPr algn="ctr">
              <a:defRPr sz="1100" b="1">
                <a:solidFill>
                  <a:srgbClr val="A5A78F"/>
                </a:solidFill>
                <a:latin typeface="Consolas"/>
              </a:defRPr>
            </a:pPr>
            <a:r>
              <a:t>ATTRIBUTION FACTOR CARDS</a:t>
            </a:r>
          </a:p>
          <a:p>
            <a:pPr>
              <a:defRPr sz="950" b="1">
                <a:solidFill>
                  <a:srgbClr val="F0EFED"/>
                </a:solidFill>
                <a:latin typeface="Arial"/>
              </a:defRPr>
            </a:pPr>
            <a:r>
              <a:t>Drop &amp; Rise Factor Attribution</a:t>
            </a:r>
          </a:p>
          <a:p>
            <a:pPr>
              <a:spcBef>
                <a:spcPts val="600"/>
              </a:spcBef>
              <a:defRPr sz="950">
                <a:solidFill>
                  <a:srgbClr val="F0EFED"/>
                </a:solidFill>
                <a:latin typeface="Arial"/>
              </a:defRPr>
            </a:pPr>
            <a:r>
              <a:t>Color-coded cards isolating exactly how much fuel economy was gained or lost due to driver acceleration behavior, lubrication drag, or ambient grade.</a:t>
            </a:r>
          </a:p>
        </p:txBody>
      </p:sp>
      <p:sp>
        <p:nvSpPr>
          <p:cNvPr id="11" name="Rounded Rectangle 10"/>
          <p:cNvSpPr/>
          <p:nvPr/>
        </p:nvSpPr>
        <p:spPr>
          <a:xfrm>
            <a:off x="8046720" y="3840480"/>
            <a:ext cx="3410712" cy="2103120"/>
          </a:xfrm>
          <a:prstGeom prst="roundRect">
            <a:avLst/>
          </a:prstGeom>
          <a:solidFill>
            <a:srgbClr val="000000"/>
          </a:solidFill>
          <a:ln>
            <a:solidFill>
              <a:srgbClr val="4C4643"/>
            </a:solidFill>
          </a:ln>
        </p:spPr>
        <p:style>
          <a:lnRef idx="1">
            <a:schemeClr val="accent1"/>
          </a:lnRef>
          <a:fillRef idx="3">
            <a:schemeClr val="accent1"/>
          </a:fillRef>
          <a:effectRef idx="2">
            <a:schemeClr val="accent1"/>
          </a:effectRef>
          <a:fontRef idx="minor">
            <a:schemeClr val="lt1"/>
          </a:fontRef>
        </p:style>
        <p:txBody>
          <a:bodyPr wrap="square" lIns="182880" tIns="182880" rtlCol="0" anchor="ctr"/>
          <a:lstStyle/>
          <a:p>
            <a:pPr algn="ctr">
              <a:defRPr sz="1100" b="1">
                <a:solidFill>
                  <a:srgbClr val="A5A78F"/>
                </a:solidFill>
                <a:latin typeface="Consolas"/>
              </a:defRPr>
            </a:pPr>
            <a:r>
              <a:t>VOLTAGE TIMELINE TELEMETRY</a:t>
            </a:r>
          </a:p>
          <a:p>
            <a:pPr>
              <a:defRPr sz="950" b="1">
                <a:solidFill>
                  <a:srgbClr val="F0EFED"/>
                </a:solidFill>
                <a:latin typeface="Arial"/>
              </a:defRPr>
            </a:pPr>
            <a:r>
              <a:t>Alternator Charging vs Battery</a:t>
            </a:r>
          </a:p>
          <a:p>
            <a:pPr>
              <a:spcBef>
                <a:spcPts val="600"/>
              </a:spcBef>
              <a:defRPr sz="950">
                <a:solidFill>
                  <a:srgbClr val="F0EFED"/>
                </a:solidFill>
                <a:latin typeface="Arial"/>
              </a:defRPr>
            </a:pPr>
            <a:r>
              <a:t>Two-axis voltage tracking displaying battery resting potential (12.4V - 12.8V) vs alternator stator output (13.8V - 14.4V) to spot electrical brownouts.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1005840"/>
          </a:xfrm>
          <a:prstGeom prst="rect">
            <a:avLst/>
          </a:prstGeom>
          <a:noFill/>
        </p:spPr>
        <p:txBody>
          <a:bodyPr wrap="square" lIns="0" tIns="0" rIns="0" bIns="0">
            <a:spAutoFit/>
          </a:bodyPr>
          <a:lstStyle/>
          <a:p>
            <a:pPr>
              <a:defRPr sz="1000" b="1">
                <a:solidFill>
                  <a:srgbClr val="A5A78F"/>
                </a:solidFill>
                <a:latin typeface="Consolas"/>
              </a:defRPr>
            </a:pPr>
            <a:r>
              <a:t>07 / SYSTEM PHOTOGRAPHS</a:t>
            </a:r>
          </a:p>
          <a:p>
            <a:pPr>
              <a:defRPr sz="2200" b="1">
                <a:solidFill>
                  <a:srgbClr val="F0EFED"/>
                </a:solidFill>
                <a:latin typeface="Arial"/>
              </a:defRPr>
            </a:pPr>
            <a:r>
              <a:t>Photographic Walkthrough: Main Dashboard</a:t>
            </a:r>
          </a:p>
          <a:p>
            <a:pPr>
              <a:defRPr sz="1100">
                <a:solidFill>
                  <a:srgbClr val="A5A78F"/>
                </a:solidFill>
                <a:latin typeface="Arial"/>
              </a:defRPr>
            </a:pPr>
            <a:r>
              <a:t>Vehicle health score ring, subsystem KPI cards, diagnostic alerts, and AI health synthesis</a:t>
            </a:r>
          </a:p>
        </p:txBody>
      </p:sp>
      <p:sp>
        <p:nvSpPr>
          <p:cNvPr id="4" name="Rectangle 3"/>
          <p:cNvSpPr/>
          <p:nvPr/>
        </p:nvSpPr>
        <p:spPr>
          <a:xfrm>
            <a:off x="731520" y="6400800"/>
            <a:ext cx="10728655" cy="18288"/>
          </a:xfrm>
          <a:prstGeom prst="rect">
            <a:avLst/>
          </a:prstGeom>
          <a:solidFill>
            <a:srgbClr val="4C46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10698480" cy="320040"/>
          </a:xfrm>
          <a:prstGeom prst="rect">
            <a:avLst/>
          </a:prstGeom>
          <a:noFill/>
        </p:spPr>
        <p:txBody>
          <a:bodyPr wrap="none">
            <a:spAutoFit/>
          </a:bodyPr>
          <a:lstStyle/>
          <a:p>
            <a:pPr>
              <a:defRPr sz="900">
                <a:solidFill>
                  <a:srgbClr val="A5A78F"/>
                </a:solidFill>
                <a:latin typeface="Consolas"/>
              </a:defRPr>
            </a:pPr>
            <a:r>
              <a:t>YANAMA – Automotive Intelligence &amp; Analytics Web Platform | Confidential Engineering Specification</a:t>
            </a:r>
          </a:p>
        </p:txBody>
      </p:sp>
      <p:pic>
        <p:nvPicPr>
          <p:cNvPr id="6" name="Picture 5" descr="03_dashboard.png"/>
          <p:cNvPicPr>
            <a:picLocks noChangeAspect="1"/>
          </p:cNvPicPr>
          <p:nvPr/>
        </p:nvPicPr>
        <p:blipFill>
          <a:blip r:embed="rId2"/>
          <a:stretch>
            <a:fillRect/>
          </a:stretch>
        </p:blipFill>
        <p:spPr>
          <a:xfrm>
            <a:off x="731520" y="1508760"/>
            <a:ext cx="7132320" cy="4457700"/>
          </a:xfrm>
          <a:prstGeom prst="rect">
            <a:avLst/>
          </a:prstGeom>
        </p:spPr>
      </p:pic>
      <p:sp>
        <p:nvSpPr>
          <p:cNvPr id="7" name="Rounded Rectangle 6"/>
          <p:cNvSpPr/>
          <p:nvPr/>
        </p:nvSpPr>
        <p:spPr>
          <a:xfrm>
            <a:off x="8046720" y="1508760"/>
            <a:ext cx="3410712" cy="4663440"/>
          </a:xfrm>
          <a:prstGeom prst="roundRect">
            <a:avLst/>
          </a:prstGeom>
          <a:solidFill>
            <a:srgbClr val="000000"/>
          </a:solidFill>
          <a:ln>
            <a:solidFill>
              <a:srgbClr val="4C4643"/>
            </a:solidFill>
          </a:ln>
        </p:spPr>
        <p:style>
          <a:lnRef idx="1">
            <a:schemeClr val="accent1"/>
          </a:lnRef>
          <a:fillRef idx="3">
            <a:schemeClr val="accent1"/>
          </a:fillRef>
          <a:effectRef idx="2">
            <a:schemeClr val="accent1"/>
          </a:effectRef>
          <a:fontRef idx="minor">
            <a:schemeClr val="lt1"/>
          </a:fontRef>
        </p:style>
        <p:txBody>
          <a:bodyPr wrap="square" lIns="228600" tIns="228600" rtlCol="0" anchor="ctr"/>
          <a:lstStyle/>
          <a:p>
            <a:pPr algn="ctr">
              <a:defRPr sz="1100" b="1">
                <a:solidFill>
                  <a:srgbClr val="A5A78F"/>
                </a:solidFill>
                <a:latin typeface="Consolas"/>
              </a:defRPr>
            </a:pPr>
            <a:r>
              <a:t>DASHBOARD ARCHITECTURE</a:t>
            </a:r>
          </a:p>
          <a:p>
            <a:pPr>
              <a:spcBef>
                <a:spcPts val="1000"/>
              </a:spcBef>
              <a:defRPr sz="1050">
                <a:solidFill>
                  <a:srgbClr val="F0EFED"/>
                </a:solidFill>
              </a:defRPr>
            </a:pPr>
            <a:r>
              <a:t>1. Vehicle Health Dial (0-100):</a:t>
            </a:r>
            <a:br/>
            <a:r>
              <a:t>Real-time weighted score displaying Grade B (84/100) for the Honda City profile.</a:t>
            </a:r>
            <a:br/>
            <a:br/>
            <a:r>
              <a:t>2. Subsystem Telemetry Tiles:</a:t>
            </a:r>
            <a:br/>
            <a:r>
              <a:t>Live status for Powertrain (95%), Electrical (95%), Maintenance Compliance (80%), and Fuel Efficiency (85%).</a:t>
            </a:r>
            <a:br/>
            <a:br/>
            <a:r>
              <a:t>3. AI Vehicle Health Agent Box:</a:t>
            </a:r>
            <a:br/>
            <a:r>
              <a:t>Context-aware synthesis advising on cooling margins and upcoming preventative brake checks.</a:t>
            </a:r>
            <a:br/>
            <a:br/>
            <a:r>
              <a:t>4. 1-Click PDF Audit Download:</a:t>
            </a:r>
            <a:br/>
            <a:r>
              <a:t>Direct export of publication-grade vehicle inspection reports.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1005840"/>
          </a:xfrm>
          <a:prstGeom prst="rect">
            <a:avLst/>
          </a:prstGeom>
          <a:noFill/>
        </p:spPr>
        <p:txBody>
          <a:bodyPr wrap="square" lIns="0" tIns="0" rIns="0" bIns="0">
            <a:spAutoFit/>
          </a:bodyPr>
          <a:lstStyle/>
          <a:p>
            <a:pPr>
              <a:defRPr sz="1000" b="1">
                <a:solidFill>
                  <a:srgbClr val="A5A78F"/>
                </a:solidFill>
                <a:latin typeface="Consolas"/>
              </a:defRPr>
            </a:pPr>
            <a:r>
              <a:t>08 / SYSTEM PHOTOGRAPHS</a:t>
            </a:r>
          </a:p>
          <a:p>
            <a:pPr>
              <a:defRPr sz="2200" b="1">
                <a:solidFill>
                  <a:srgbClr val="F0EFED"/>
                </a:solidFill>
                <a:latin typeface="Arial"/>
              </a:defRPr>
            </a:pPr>
            <a:r>
              <a:t>Photographic Walkthrough: Statistical Engine</a:t>
            </a:r>
          </a:p>
          <a:p>
            <a:pPr>
              <a:defRPr sz="1100">
                <a:solidFill>
                  <a:srgbClr val="A5A78F"/>
                </a:solidFill>
                <a:latin typeface="Arial"/>
              </a:defRPr>
            </a:pPr>
            <a:r>
              <a:t>Parametric frequency histogram, percentile spectrum, regression slope, and dynamic AI text agent</a:t>
            </a:r>
          </a:p>
        </p:txBody>
      </p:sp>
      <p:sp>
        <p:nvSpPr>
          <p:cNvPr id="4" name="Rectangle 3"/>
          <p:cNvSpPr/>
          <p:nvPr/>
        </p:nvSpPr>
        <p:spPr>
          <a:xfrm>
            <a:off x="731520" y="6400800"/>
            <a:ext cx="10728655" cy="18288"/>
          </a:xfrm>
          <a:prstGeom prst="rect">
            <a:avLst/>
          </a:prstGeom>
          <a:solidFill>
            <a:srgbClr val="4C46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10698480" cy="320040"/>
          </a:xfrm>
          <a:prstGeom prst="rect">
            <a:avLst/>
          </a:prstGeom>
          <a:noFill/>
        </p:spPr>
        <p:txBody>
          <a:bodyPr wrap="none">
            <a:spAutoFit/>
          </a:bodyPr>
          <a:lstStyle/>
          <a:p>
            <a:pPr>
              <a:defRPr sz="900">
                <a:solidFill>
                  <a:srgbClr val="A5A78F"/>
                </a:solidFill>
                <a:latin typeface="Consolas"/>
              </a:defRPr>
            </a:pPr>
            <a:r>
              <a:t>YANAMA – Automotive Intelligence &amp; Analytics Web Platform | Confidential Engineering Specification</a:t>
            </a:r>
          </a:p>
        </p:txBody>
      </p:sp>
      <p:pic>
        <p:nvPicPr>
          <p:cNvPr id="6" name="Picture 5" descr="04_statistical_engine.png"/>
          <p:cNvPicPr>
            <a:picLocks noChangeAspect="1"/>
          </p:cNvPicPr>
          <p:nvPr/>
        </p:nvPicPr>
        <p:blipFill>
          <a:blip r:embed="rId2"/>
          <a:stretch>
            <a:fillRect/>
          </a:stretch>
        </p:blipFill>
        <p:spPr>
          <a:xfrm>
            <a:off x="731520" y="1508760"/>
            <a:ext cx="7132320" cy="4457700"/>
          </a:xfrm>
          <a:prstGeom prst="rect">
            <a:avLst/>
          </a:prstGeom>
        </p:spPr>
      </p:pic>
      <p:sp>
        <p:nvSpPr>
          <p:cNvPr id="7" name="Rounded Rectangle 6"/>
          <p:cNvSpPr/>
          <p:nvPr/>
        </p:nvSpPr>
        <p:spPr>
          <a:xfrm>
            <a:off x="8046720" y="1508760"/>
            <a:ext cx="3410712" cy="4663440"/>
          </a:xfrm>
          <a:prstGeom prst="roundRect">
            <a:avLst/>
          </a:prstGeom>
          <a:solidFill>
            <a:srgbClr val="000000"/>
          </a:solidFill>
          <a:ln>
            <a:solidFill>
              <a:srgbClr val="4C4643"/>
            </a:solidFill>
          </a:ln>
        </p:spPr>
        <p:style>
          <a:lnRef idx="1">
            <a:schemeClr val="accent1"/>
          </a:lnRef>
          <a:fillRef idx="3">
            <a:schemeClr val="accent1"/>
          </a:fillRef>
          <a:effectRef idx="2">
            <a:schemeClr val="accent1"/>
          </a:effectRef>
          <a:fontRef idx="minor">
            <a:schemeClr val="lt1"/>
          </a:fontRef>
        </p:style>
        <p:txBody>
          <a:bodyPr wrap="square" lIns="228600" tIns="228600" rtlCol="0" anchor="ctr"/>
          <a:lstStyle/>
          <a:p>
            <a:pPr algn="ctr">
              <a:defRPr sz="1100" b="1">
                <a:solidFill>
                  <a:srgbClr val="A5A78F"/>
                </a:solidFill>
                <a:latin typeface="Consolas"/>
              </a:defRPr>
            </a:pPr>
            <a:r>
              <a:t>STATISTICAL AI FEATURES</a:t>
            </a:r>
          </a:p>
          <a:p>
            <a:pPr>
              <a:spcBef>
                <a:spcPts val="1000"/>
              </a:spcBef>
              <a:defRPr sz="1050">
                <a:solidFill>
                  <a:srgbClr val="F0EFED"/>
                </a:solidFill>
              </a:defRPr>
            </a:pPr>
            <a:r>
              <a:t>1. Dynamic Metric Switching:</a:t>
            </a:r>
            <a:br/>
            <a:r>
              <a:t>Inspect RPM, Torque (Nm), Power (HP), Coolant Temp (°C), Engine Load (%), or Speed (km/h).</a:t>
            </a:r>
            <a:br/>
            <a:br/>
            <a:r>
              <a:t>2. AI Agent Text Box:</a:t>
            </a:r>
            <a:br/>
            <a:r>
              <a:t>Analyzes the chosen visualization technique and contextualizes the median (1785 RPM), P95 threshold, and drift slope.</a:t>
            </a:r>
            <a:br/>
            <a:br/>
            <a:r>
              <a:t>3. 8-Bin Frequency Histogram:</a:t>
            </a:r>
            <a:br/>
            <a:r>
              <a:t>Visualizes sample cluster frequency across 120 continuous points.</a:t>
            </a:r>
            <a:br/>
            <a:br/>
            <a:r>
              <a:t>4. Percentile Range Spectrum:</a:t>
            </a:r>
            <a:br/>
            <a:r>
              <a:t>Exact boundaries for P25, P50, P75, P95, and maximum observed.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1005840"/>
          </a:xfrm>
          <a:prstGeom prst="rect">
            <a:avLst/>
          </a:prstGeom>
          <a:noFill/>
        </p:spPr>
        <p:txBody>
          <a:bodyPr wrap="square" lIns="0" tIns="0" rIns="0" bIns="0">
            <a:spAutoFit/>
          </a:bodyPr>
          <a:lstStyle/>
          <a:p>
            <a:pPr>
              <a:defRPr sz="1000" b="1">
                <a:solidFill>
                  <a:srgbClr val="A5A78F"/>
                </a:solidFill>
                <a:latin typeface="Consolas"/>
              </a:defRPr>
            </a:pPr>
            <a:r>
              <a:t>09 / SYSTEM PHOTOGRAPHS</a:t>
            </a:r>
          </a:p>
          <a:p>
            <a:pPr>
              <a:defRPr sz="2200" b="1">
                <a:solidFill>
                  <a:srgbClr val="F0EFED"/>
                </a:solidFill>
                <a:latin typeface="Arial"/>
              </a:defRPr>
            </a:pPr>
            <a:r>
              <a:t>Photographic Walkthrough: Trip Simulation</a:t>
            </a:r>
          </a:p>
          <a:p>
            <a:pPr>
              <a:defRPr sz="1100">
                <a:solidFill>
                  <a:srgbClr val="A5A78F"/>
                </a:solidFill>
                <a:latin typeface="Arial"/>
              </a:defRPr>
            </a:pPr>
            <a:r>
              <a:t>Pre-trip audit comparing current condition vs serviced condition across terrains with AI service advisor</a:t>
            </a:r>
          </a:p>
        </p:txBody>
      </p:sp>
      <p:sp>
        <p:nvSpPr>
          <p:cNvPr id="4" name="Rectangle 3"/>
          <p:cNvSpPr/>
          <p:nvPr/>
        </p:nvSpPr>
        <p:spPr>
          <a:xfrm>
            <a:off x="731520" y="6400800"/>
            <a:ext cx="10728655" cy="18288"/>
          </a:xfrm>
          <a:prstGeom prst="rect">
            <a:avLst/>
          </a:prstGeom>
          <a:solidFill>
            <a:srgbClr val="4C46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10698480" cy="320040"/>
          </a:xfrm>
          <a:prstGeom prst="rect">
            <a:avLst/>
          </a:prstGeom>
          <a:noFill/>
        </p:spPr>
        <p:txBody>
          <a:bodyPr wrap="none">
            <a:spAutoFit/>
          </a:bodyPr>
          <a:lstStyle/>
          <a:p>
            <a:pPr>
              <a:defRPr sz="900">
                <a:solidFill>
                  <a:srgbClr val="A5A78F"/>
                </a:solidFill>
                <a:latin typeface="Consolas"/>
              </a:defRPr>
            </a:pPr>
            <a:r>
              <a:t>YANAMA – Automotive Intelligence &amp; Analytics Web Platform | Confidential Engineering Specification</a:t>
            </a:r>
          </a:p>
        </p:txBody>
      </p:sp>
      <p:pic>
        <p:nvPicPr>
          <p:cNvPr id="6" name="Picture 5" descr="05_trip_simulation.png"/>
          <p:cNvPicPr>
            <a:picLocks noChangeAspect="1"/>
          </p:cNvPicPr>
          <p:nvPr/>
        </p:nvPicPr>
        <p:blipFill>
          <a:blip r:embed="rId2"/>
          <a:stretch>
            <a:fillRect/>
          </a:stretch>
        </p:blipFill>
        <p:spPr>
          <a:xfrm>
            <a:off x="731520" y="1508760"/>
            <a:ext cx="7132320" cy="4457700"/>
          </a:xfrm>
          <a:prstGeom prst="rect">
            <a:avLst/>
          </a:prstGeom>
        </p:spPr>
      </p:pic>
      <p:sp>
        <p:nvSpPr>
          <p:cNvPr id="7" name="Rounded Rectangle 6"/>
          <p:cNvSpPr/>
          <p:nvPr/>
        </p:nvSpPr>
        <p:spPr>
          <a:xfrm>
            <a:off x="8046720" y="1508760"/>
            <a:ext cx="3410712" cy="4663440"/>
          </a:xfrm>
          <a:prstGeom prst="roundRect">
            <a:avLst/>
          </a:prstGeom>
          <a:solidFill>
            <a:srgbClr val="000000"/>
          </a:solidFill>
          <a:ln>
            <a:solidFill>
              <a:srgbClr val="4C4643"/>
            </a:solidFill>
          </a:ln>
        </p:spPr>
        <p:style>
          <a:lnRef idx="1">
            <a:schemeClr val="accent1"/>
          </a:lnRef>
          <a:fillRef idx="3">
            <a:schemeClr val="accent1"/>
          </a:fillRef>
          <a:effectRef idx="2">
            <a:schemeClr val="accent1"/>
          </a:effectRef>
          <a:fontRef idx="minor">
            <a:schemeClr val="lt1"/>
          </a:fontRef>
        </p:style>
        <p:txBody>
          <a:bodyPr wrap="square" lIns="228600" tIns="228600" rtlCol="0" anchor="ctr"/>
          <a:lstStyle/>
          <a:p>
            <a:pPr algn="ctr">
              <a:defRPr sz="1100" b="1">
                <a:solidFill>
                  <a:srgbClr val="A5A78F"/>
                </a:solidFill>
                <a:latin typeface="Consolas"/>
              </a:defRPr>
            </a:pPr>
            <a:r>
              <a:t>TRIP SIMULATION HIGHLIGHTS</a:t>
            </a:r>
          </a:p>
          <a:p>
            <a:pPr>
              <a:spcBef>
                <a:spcPts val="1000"/>
              </a:spcBef>
              <a:defRPr sz="1050">
                <a:solidFill>
                  <a:srgbClr val="F0EFED"/>
                </a:solidFill>
              </a:defRPr>
            </a:pPr>
            <a:r>
              <a:t>1. Dynamic Route Inputs:</a:t>
            </a:r>
            <a:br/>
            <a:r>
              <a:t>Slider configuration from 50 to 2,000 km, terrain profile (Mountain/Highway), and payload.</a:t>
            </a:r>
            <a:br/>
            <a:br/>
            <a:r>
              <a:t>2. As-Is vs Serviced State:</a:t>
            </a:r>
            <a:br/>
            <a:r>
              <a:t>Side-by-side comparison of readiness scores, fuel consumption, and net monetary fuel savings.</a:t>
            </a:r>
            <a:br/>
            <a:br/>
            <a:r>
              <a:t>3. AI Service Checklist:</a:t>
            </a:r>
            <a:br/>
            <a:r>
              <a:t>Mandatory vs Recommended workshop checklist tailored specifically for the planned route.</a:t>
            </a:r>
            <a:br/>
            <a:br/>
            <a:r>
              <a:t>4. Risk Factor Analysis:</a:t>
            </a:r>
            <a:br/>
            <a:r>
              <a:t>Flags specific vulnerabilities such as radiator thermal runaway or brake fluid boil.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1005840"/>
          </a:xfrm>
          <a:prstGeom prst="rect">
            <a:avLst/>
          </a:prstGeom>
          <a:noFill/>
        </p:spPr>
        <p:txBody>
          <a:bodyPr wrap="square" lIns="0" tIns="0" rIns="0" bIns="0">
            <a:spAutoFit/>
          </a:bodyPr>
          <a:lstStyle/>
          <a:p>
            <a:pPr>
              <a:defRPr sz="1000" b="1">
                <a:solidFill>
                  <a:srgbClr val="A5A78F"/>
                </a:solidFill>
                <a:latin typeface="Consolas"/>
              </a:defRPr>
            </a:pPr>
            <a:r>
              <a:t>10 / SYSTEM PHOTOGRAPHS</a:t>
            </a:r>
          </a:p>
          <a:p>
            <a:pPr>
              <a:defRPr sz="2200" b="1">
                <a:solidFill>
                  <a:srgbClr val="F0EFED"/>
                </a:solidFill>
                <a:latin typeface="Arial"/>
              </a:defRPr>
            </a:pPr>
            <a:r>
              <a:t>Photographic Walkthrough: Mileage Intelligence</a:t>
            </a:r>
          </a:p>
          <a:p>
            <a:pPr>
              <a:defRPr sz="1100">
                <a:solidFill>
                  <a:srgbClr val="A5A78F"/>
                </a:solidFill>
                <a:latin typeface="Arial"/>
              </a:defRPr>
            </a:pPr>
            <a:r>
              <a:t>Real-time km/L tracking, drop/rise factor attribution, and prioritized AI fuel recovery actions</a:t>
            </a:r>
          </a:p>
        </p:txBody>
      </p:sp>
      <p:sp>
        <p:nvSpPr>
          <p:cNvPr id="4" name="Rectangle 3"/>
          <p:cNvSpPr/>
          <p:nvPr/>
        </p:nvSpPr>
        <p:spPr>
          <a:xfrm>
            <a:off x="731520" y="6400800"/>
            <a:ext cx="10728655" cy="18288"/>
          </a:xfrm>
          <a:prstGeom prst="rect">
            <a:avLst/>
          </a:prstGeom>
          <a:solidFill>
            <a:srgbClr val="4C46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10698480" cy="320040"/>
          </a:xfrm>
          <a:prstGeom prst="rect">
            <a:avLst/>
          </a:prstGeom>
          <a:noFill/>
        </p:spPr>
        <p:txBody>
          <a:bodyPr wrap="none">
            <a:spAutoFit/>
          </a:bodyPr>
          <a:lstStyle/>
          <a:p>
            <a:pPr>
              <a:defRPr sz="900">
                <a:solidFill>
                  <a:srgbClr val="A5A78F"/>
                </a:solidFill>
                <a:latin typeface="Consolas"/>
              </a:defRPr>
            </a:pPr>
            <a:r>
              <a:t>YANAMA – Automotive Intelligence &amp; Analytics Web Platform | Confidential Engineering Specification</a:t>
            </a:r>
          </a:p>
        </p:txBody>
      </p:sp>
      <p:pic>
        <p:nvPicPr>
          <p:cNvPr id="6" name="Picture 5" descr="06_mileage_analytics.png"/>
          <p:cNvPicPr>
            <a:picLocks noChangeAspect="1"/>
          </p:cNvPicPr>
          <p:nvPr/>
        </p:nvPicPr>
        <p:blipFill>
          <a:blip r:embed="rId2"/>
          <a:stretch>
            <a:fillRect/>
          </a:stretch>
        </p:blipFill>
        <p:spPr>
          <a:xfrm>
            <a:off x="731520" y="1508760"/>
            <a:ext cx="7132320" cy="4457700"/>
          </a:xfrm>
          <a:prstGeom prst="rect">
            <a:avLst/>
          </a:prstGeom>
        </p:spPr>
      </p:pic>
      <p:sp>
        <p:nvSpPr>
          <p:cNvPr id="7" name="Rounded Rectangle 6"/>
          <p:cNvSpPr/>
          <p:nvPr/>
        </p:nvSpPr>
        <p:spPr>
          <a:xfrm>
            <a:off x="8046720" y="1508760"/>
            <a:ext cx="3410712" cy="4663440"/>
          </a:xfrm>
          <a:prstGeom prst="roundRect">
            <a:avLst/>
          </a:prstGeom>
          <a:solidFill>
            <a:srgbClr val="000000"/>
          </a:solidFill>
          <a:ln>
            <a:solidFill>
              <a:srgbClr val="4C4643"/>
            </a:solidFill>
          </a:ln>
        </p:spPr>
        <p:style>
          <a:lnRef idx="1">
            <a:schemeClr val="accent1"/>
          </a:lnRef>
          <a:fillRef idx="3">
            <a:schemeClr val="accent1"/>
          </a:fillRef>
          <a:effectRef idx="2">
            <a:schemeClr val="accent1"/>
          </a:effectRef>
          <a:fontRef idx="minor">
            <a:schemeClr val="lt1"/>
          </a:fontRef>
        </p:style>
        <p:txBody>
          <a:bodyPr wrap="square" lIns="228600" tIns="228600" rtlCol="0" anchor="ctr"/>
          <a:lstStyle/>
          <a:p>
            <a:pPr algn="ctr">
              <a:defRPr sz="1100" b="1">
                <a:solidFill>
                  <a:srgbClr val="A5A78F"/>
                </a:solidFill>
                <a:latin typeface="Consolas"/>
              </a:defRPr>
            </a:pPr>
            <a:r>
              <a:t>MILEAGE OPTIMIZATION</a:t>
            </a:r>
          </a:p>
          <a:p>
            <a:pPr>
              <a:spcBef>
                <a:spcPts val="1000"/>
              </a:spcBef>
              <a:defRPr sz="1050">
                <a:solidFill>
                  <a:srgbClr val="F0EFED"/>
                </a:solidFill>
              </a:defRPr>
            </a:pPr>
            <a:r>
              <a:t>1. Running Average vs Historical Peak:</a:t>
            </a:r>
            <a:br/>
            <a:r>
              <a:t>Tracks current 12.5 km/L baseline against 15.8 km/L highway potential.</a:t>
            </a:r>
            <a:br/>
            <a:br/>
            <a:r>
              <a:t>2. Drop &amp; Rise Attribution Vectors:</a:t>
            </a:r>
            <a:br/>
            <a:r>
              <a:t>Isolates throttle aggression (-1.8 km/L), overdue lubrication drag (-1.4 km/L), and thermal loss (-0.9 km/L).</a:t>
            </a:r>
            <a:br/>
            <a:br/>
            <a:r>
              <a:t>3. Actionable AI Recommendations:</a:t>
            </a:r>
            <a:br/>
            <a:r>
              <a:t>4 prioritized steps with quantified gain (e.g. progressive throttle, synthetic oil renewal).</a:t>
            </a:r>
            <a:br/>
            <a:br/>
            <a:r>
              <a:t>4. Fuel Recovery Estimate:</a:t>
            </a:r>
            <a:br/>
            <a:r>
              <a:t>Calculates up to +3.5 km/L recoverable efficiency (~₹14,000/yr savings).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1005840"/>
          </a:xfrm>
          <a:prstGeom prst="rect">
            <a:avLst/>
          </a:prstGeom>
          <a:noFill/>
        </p:spPr>
        <p:txBody>
          <a:bodyPr wrap="square" lIns="0" tIns="0" rIns="0" bIns="0">
            <a:spAutoFit/>
          </a:bodyPr>
          <a:lstStyle/>
          <a:p>
            <a:pPr>
              <a:defRPr sz="1000" b="1">
                <a:solidFill>
                  <a:srgbClr val="A5A78F"/>
                </a:solidFill>
                <a:latin typeface="Consolas"/>
              </a:defRPr>
            </a:pPr>
            <a:r>
              <a:t>11 / VEHICLE DIAGNOSTICS</a:t>
            </a:r>
          </a:p>
          <a:p>
            <a:pPr>
              <a:defRPr sz="2200" b="1">
                <a:solidFill>
                  <a:srgbClr val="F0EFED"/>
                </a:solidFill>
                <a:latin typeface="Arial"/>
              </a:defRPr>
            </a:pPr>
            <a:r>
              <a:t>Rule-Based Diagnostics &amp; Fault Catalog</a:t>
            </a:r>
          </a:p>
          <a:p>
            <a:pPr>
              <a:defRPr sz="1100">
                <a:solidFill>
                  <a:srgbClr val="A5A78F"/>
                </a:solidFill>
                <a:latin typeface="Arial"/>
              </a:defRPr>
            </a:pPr>
            <a:r>
              <a:t>Deterministic threshold catalog mapping sensor triggers to non-technical and mechanic outputs</a:t>
            </a:r>
          </a:p>
        </p:txBody>
      </p:sp>
      <p:sp>
        <p:nvSpPr>
          <p:cNvPr id="4" name="Rectangle 3"/>
          <p:cNvSpPr/>
          <p:nvPr/>
        </p:nvSpPr>
        <p:spPr>
          <a:xfrm>
            <a:off x="731520" y="6400800"/>
            <a:ext cx="10728655" cy="18288"/>
          </a:xfrm>
          <a:prstGeom prst="rect">
            <a:avLst/>
          </a:prstGeom>
          <a:solidFill>
            <a:srgbClr val="4C46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10698480" cy="320040"/>
          </a:xfrm>
          <a:prstGeom prst="rect">
            <a:avLst/>
          </a:prstGeom>
          <a:noFill/>
        </p:spPr>
        <p:txBody>
          <a:bodyPr wrap="none">
            <a:spAutoFit/>
          </a:bodyPr>
          <a:lstStyle/>
          <a:p>
            <a:pPr>
              <a:defRPr sz="900">
                <a:solidFill>
                  <a:srgbClr val="A5A78F"/>
                </a:solidFill>
                <a:latin typeface="Consolas"/>
              </a:defRPr>
            </a:pPr>
            <a:r>
              <a:t>YANAMA – Automotive Intelligence &amp; Analytics Web Platform | Confidential Engineering Specification</a:t>
            </a:r>
          </a:p>
        </p:txBody>
      </p:sp>
      <p:graphicFrame>
        <p:nvGraphicFramePr>
          <p:cNvPr id="6" name="Table 5"/>
          <p:cNvGraphicFramePr>
            <a:graphicFrameLocks noGrp="1"/>
          </p:cNvGraphicFramePr>
          <p:nvPr/>
        </p:nvGraphicFramePr>
        <p:xfrm>
          <a:off x="731520" y="1554480"/>
          <a:ext cx="10725912" cy="438912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3291840">
                  <a:extLst>
                    <a:ext uri="{9D8B030D-6E8A-4147-A177-3AD203B41FA5}">
                      <a16:colId xmlns:a16="http://schemas.microsoft.com/office/drawing/2014/main" val="20003"/>
                    </a:ext>
                  </a:extLst>
                </a:gridCol>
                <a:gridCol w="3227832">
                  <a:extLst>
                    <a:ext uri="{9D8B030D-6E8A-4147-A177-3AD203B41FA5}">
                      <a16:colId xmlns:a16="http://schemas.microsoft.com/office/drawing/2014/main" val="20004"/>
                    </a:ext>
                  </a:extLst>
                </a:gridCol>
              </a:tblGrid>
              <a:tr h="877824">
                <a:tc>
                  <a:txBody>
                    <a:bodyPr/>
                    <a:lstStyle/>
                    <a:p>
                      <a:pPr>
                        <a:defRPr sz="1000" b="1">
                          <a:solidFill>
                            <a:srgbClr val="A5A78F"/>
                          </a:solidFill>
                          <a:latin typeface="Consolas"/>
                        </a:defRPr>
                      </a:pPr>
                      <a:r>
                        <a:t>RULE CODE</a:t>
                      </a:r>
                    </a:p>
                  </a:txBody>
                  <a:tcPr>
                    <a:solidFill>
                      <a:srgbClr val="000000"/>
                    </a:solidFill>
                  </a:tcPr>
                </a:tc>
                <a:tc>
                  <a:txBody>
                    <a:bodyPr/>
                    <a:lstStyle/>
                    <a:p>
                      <a:pPr>
                        <a:defRPr sz="1000" b="1">
                          <a:solidFill>
                            <a:srgbClr val="A5A78F"/>
                          </a:solidFill>
                          <a:latin typeface="Consolas"/>
                        </a:defRPr>
                      </a:pPr>
                      <a:r>
                        <a:t>COMPONENT</a:t>
                      </a:r>
                    </a:p>
                  </a:txBody>
                  <a:tcPr>
                    <a:solidFill>
                      <a:srgbClr val="000000"/>
                    </a:solidFill>
                  </a:tcPr>
                </a:tc>
                <a:tc>
                  <a:txBody>
                    <a:bodyPr/>
                    <a:lstStyle/>
                    <a:p>
                      <a:pPr>
                        <a:defRPr sz="1000" b="1">
                          <a:solidFill>
                            <a:srgbClr val="A5A78F"/>
                          </a:solidFill>
                          <a:latin typeface="Consolas"/>
                        </a:defRPr>
                      </a:pPr>
                      <a:r>
                        <a:t>THRESHOLD</a:t>
                      </a:r>
                    </a:p>
                  </a:txBody>
                  <a:tcPr>
                    <a:solidFill>
                      <a:srgbClr val="000000"/>
                    </a:solidFill>
                  </a:tcPr>
                </a:tc>
                <a:tc>
                  <a:txBody>
                    <a:bodyPr/>
                    <a:lstStyle/>
                    <a:p>
                      <a:pPr>
                        <a:defRPr sz="1000" b="1">
                          <a:solidFill>
                            <a:srgbClr val="A5A78F"/>
                          </a:solidFill>
                          <a:latin typeface="Consolas"/>
                        </a:defRPr>
                      </a:pPr>
                      <a:r>
                        <a:t>OWNER EXPLANATION</a:t>
                      </a:r>
                    </a:p>
                  </a:txBody>
                  <a:tcPr>
                    <a:solidFill>
                      <a:srgbClr val="000000"/>
                    </a:solidFill>
                  </a:tcPr>
                </a:tc>
                <a:tc>
                  <a:txBody>
                    <a:bodyPr/>
                    <a:lstStyle/>
                    <a:p>
                      <a:pPr>
                        <a:defRPr sz="1000" b="1">
                          <a:solidFill>
                            <a:srgbClr val="A5A78F"/>
                          </a:solidFill>
                          <a:latin typeface="Consolas"/>
                        </a:defRPr>
                      </a:pPr>
                      <a:r>
                        <a:t>MECHANIC DIAGNOSTIC</a:t>
                      </a:r>
                    </a:p>
                  </a:txBody>
                  <a:tcPr>
                    <a:solidFill>
                      <a:srgbClr val="000000"/>
                    </a:solidFill>
                  </a:tcPr>
                </a:tc>
                <a:extLst>
                  <a:ext uri="{0D108BD9-81ED-4DB2-BD59-A6C34878D82A}">
                    <a16:rowId xmlns:a16="http://schemas.microsoft.com/office/drawing/2014/main" val="10000"/>
                  </a:ext>
                </a:extLst>
              </a:tr>
              <a:tr h="877824">
                <a:tc>
                  <a:txBody>
                    <a:bodyPr/>
                    <a:lstStyle/>
                    <a:p>
                      <a:pPr>
                        <a:defRPr sz="950">
                          <a:solidFill>
                            <a:srgbClr val="F0EFED"/>
                          </a:solidFill>
                          <a:latin typeface="Consolas"/>
                        </a:defRPr>
                      </a:pPr>
                      <a:r>
                        <a:t>ENG-TMP-001</a:t>
                      </a:r>
                    </a:p>
                  </a:txBody>
                  <a:tcPr>
                    <a:solidFill>
                      <a:srgbClr val="4C4643"/>
                    </a:solidFill>
                  </a:tcPr>
                </a:tc>
                <a:tc>
                  <a:txBody>
                    <a:bodyPr/>
                    <a:lstStyle/>
                    <a:p>
                      <a:pPr>
                        <a:defRPr sz="950">
                          <a:solidFill>
                            <a:srgbClr val="F0EFED"/>
                          </a:solidFill>
                          <a:latin typeface="Consolas"/>
                        </a:defRPr>
                      </a:pPr>
                      <a:r>
                        <a:t>Engine Thermal</a:t>
                      </a:r>
                    </a:p>
                  </a:txBody>
                  <a:tcPr>
                    <a:solidFill>
                      <a:srgbClr val="4C4643"/>
                    </a:solidFill>
                  </a:tcPr>
                </a:tc>
                <a:tc>
                  <a:txBody>
                    <a:bodyPr/>
                    <a:lstStyle/>
                    <a:p>
                      <a:pPr>
                        <a:defRPr sz="950">
                          <a:solidFill>
                            <a:srgbClr val="F0EFED"/>
                          </a:solidFill>
                          <a:latin typeface="Consolas"/>
                        </a:defRPr>
                      </a:pPr>
                      <a:r>
                        <a:t>&gt; 102.0 °C</a:t>
                      </a:r>
                    </a:p>
                  </a:txBody>
                  <a:tcPr>
                    <a:solidFill>
                      <a:srgbClr val="4C4643"/>
                    </a:solidFill>
                  </a:tcPr>
                </a:tc>
                <a:tc>
                  <a:txBody>
                    <a:bodyPr/>
                    <a:lstStyle/>
                    <a:p>
                      <a:pPr>
                        <a:defRPr sz="950">
                          <a:solidFill>
                            <a:srgbClr val="F0EFED"/>
                          </a:solidFill>
                          <a:latin typeface="Arial"/>
                        </a:defRPr>
                      </a:pPr>
                      <a:r>
                        <a:t>Engine coolant temperature higher than operating range. Allow cooling down.</a:t>
                      </a:r>
                    </a:p>
                  </a:txBody>
                  <a:tcPr>
                    <a:solidFill>
                      <a:srgbClr val="4C4643"/>
                    </a:solidFill>
                  </a:tcPr>
                </a:tc>
                <a:tc>
                  <a:txBody>
                    <a:bodyPr/>
                    <a:lstStyle/>
                    <a:p>
                      <a:pPr>
                        <a:defRPr sz="950">
                          <a:solidFill>
                            <a:srgbClr val="F0EFED"/>
                          </a:solidFill>
                          <a:latin typeface="Arial"/>
                        </a:defRPr>
                      </a:pPr>
                      <a:r>
                        <a:t>Thermostat valve restriction or radiator fin clogging. Run 1.1 bar pressure test.</a:t>
                      </a:r>
                    </a:p>
                  </a:txBody>
                  <a:tcPr>
                    <a:solidFill>
                      <a:srgbClr val="4C4643"/>
                    </a:solidFill>
                  </a:tcPr>
                </a:tc>
                <a:extLst>
                  <a:ext uri="{0D108BD9-81ED-4DB2-BD59-A6C34878D82A}">
                    <a16:rowId xmlns:a16="http://schemas.microsoft.com/office/drawing/2014/main" val="10001"/>
                  </a:ext>
                </a:extLst>
              </a:tr>
              <a:tr h="877824">
                <a:tc>
                  <a:txBody>
                    <a:bodyPr/>
                    <a:lstStyle/>
                    <a:p>
                      <a:pPr>
                        <a:defRPr sz="950">
                          <a:solidFill>
                            <a:srgbClr val="F0EFED"/>
                          </a:solidFill>
                          <a:latin typeface="Consolas"/>
                        </a:defRPr>
                      </a:pPr>
                      <a:r>
                        <a:t>ENG-RPM-002</a:t>
                      </a:r>
                    </a:p>
                  </a:txBody>
                  <a:tcPr>
                    <a:solidFill>
                      <a:srgbClr val="000000"/>
                    </a:solidFill>
                  </a:tcPr>
                </a:tc>
                <a:tc>
                  <a:txBody>
                    <a:bodyPr/>
                    <a:lstStyle/>
                    <a:p>
                      <a:pPr>
                        <a:defRPr sz="950">
                          <a:solidFill>
                            <a:srgbClr val="F0EFED"/>
                          </a:solidFill>
                          <a:latin typeface="Consolas"/>
                        </a:defRPr>
                      </a:pPr>
                      <a:r>
                        <a:t>Powertrain</a:t>
                      </a:r>
                    </a:p>
                  </a:txBody>
                  <a:tcPr>
                    <a:solidFill>
                      <a:srgbClr val="000000"/>
                    </a:solidFill>
                  </a:tcPr>
                </a:tc>
                <a:tc>
                  <a:txBody>
                    <a:bodyPr/>
                    <a:lstStyle/>
                    <a:p>
                      <a:pPr>
                        <a:defRPr sz="950">
                          <a:solidFill>
                            <a:srgbClr val="F0EFED"/>
                          </a:solidFill>
                          <a:latin typeface="Consolas"/>
                        </a:defRPr>
                      </a:pPr>
                      <a:r>
                        <a:t>&gt; 5500 RPM</a:t>
                      </a:r>
                    </a:p>
                  </a:txBody>
                  <a:tcPr>
                    <a:solidFill>
                      <a:srgbClr val="000000"/>
                    </a:solidFill>
                  </a:tcPr>
                </a:tc>
                <a:tc>
                  <a:txBody>
                    <a:bodyPr/>
                    <a:lstStyle/>
                    <a:p>
                      <a:pPr>
                        <a:defRPr sz="950">
                          <a:solidFill>
                            <a:srgbClr val="F0EFED"/>
                          </a:solidFill>
                          <a:latin typeface="Arial"/>
                        </a:defRPr>
                      </a:pPr>
                      <a:r>
                        <a:t>Engine revved to very high revolutions. Driving gently saves fuel and wear.</a:t>
                      </a:r>
                    </a:p>
                  </a:txBody>
                  <a:tcPr>
                    <a:solidFill>
                      <a:srgbClr val="000000"/>
                    </a:solidFill>
                  </a:tcPr>
                </a:tc>
                <a:tc>
                  <a:txBody>
                    <a:bodyPr/>
                    <a:lstStyle/>
                    <a:p>
                      <a:pPr>
                        <a:defRPr sz="950">
                          <a:solidFill>
                            <a:srgbClr val="F0EFED"/>
                          </a:solidFill>
                          <a:latin typeface="Arial"/>
                        </a:defRPr>
                      </a:pPr>
                      <a:r>
                        <a:t>Transient over-rev event. Check valve float risk and ECU over-rev tally.</a:t>
                      </a:r>
                    </a:p>
                  </a:txBody>
                  <a:tcPr>
                    <a:solidFill>
                      <a:srgbClr val="000000"/>
                    </a:solidFill>
                  </a:tcPr>
                </a:tc>
                <a:extLst>
                  <a:ext uri="{0D108BD9-81ED-4DB2-BD59-A6C34878D82A}">
                    <a16:rowId xmlns:a16="http://schemas.microsoft.com/office/drawing/2014/main" val="10002"/>
                  </a:ext>
                </a:extLst>
              </a:tr>
              <a:tr h="877824">
                <a:tc>
                  <a:txBody>
                    <a:bodyPr/>
                    <a:lstStyle/>
                    <a:p>
                      <a:pPr>
                        <a:defRPr sz="950">
                          <a:solidFill>
                            <a:srgbClr val="F0EFED"/>
                          </a:solidFill>
                          <a:latin typeface="Consolas"/>
                        </a:defRPr>
                      </a:pPr>
                      <a:r>
                        <a:t>ELE-BAT-001</a:t>
                      </a:r>
                    </a:p>
                  </a:txBody>
                  <a:tcPr>
                    <a:solidFill>
                      <a:srgbClr val="4C4643"/>
                    </a:solidFill>
                  </a:tcPr>
                </a:tc>
                <a:tc>
                  <a:txBody>
                    <a:bodyPr/>
                    <a:lstStyle/>
                    <a:p>
                      <a:pPr>
                        <a:defRPr sz="950">
                          <a:solidFill>
                            <a:srgbClr val="F0EFED"/>
                          </a:solidFill>
                          <a:latin typeface="Consolas"/>
                        </a:defRPr>
                      </a:pPr>
                      <a:r>
                        <a:t>Electrical 12V</a:t>
                      </a:r>
                    </a:p>
                  </a:txBody>
                  <a:tcPr>
                    <a:solidFill>
                      <a:srgbClr val="4C4643"/>
                    </a:solidFill>
                  </a:tcPr>
                </a:tc>
                <a:tc>
                  <a:txBody>
                    <a:bodyPr/>
                    <a:lstStyle/>
                    <a:p>
                      <a:pPr>
                        <a:defRPr sz="950">
                          <a:solidFill>
                            <a:srgbClr val="F0EFED"/>
                          </a:solidFill>
                          <a:latin typeface="Consolas"/>
                        </a:defRPr>
                      </a:pPr>
                      <a:r>
                        <a:t>&lt; 11.90 V</a:t>
                      </a:r>
                    </a:p>
                  </a:txBody>
                  <a:tcPr>
                    <a:solidFill>
                      <a:srgbClr val="4C4643"/>
                    </a:solidFill>
                  </a:tcPr>
                </a:tc>
                <a:tc>
                  <a:txBody>
                    <a:bodyPr/>
                    <a:lstStyle/>
                    <a:p>
                      <a:pPr>
                        <a:defRPr sz="950">
                          <a:solidFill>
                            <a:srgbClr val="F0EFED"/>
                          </a:solidFill>
                          <a:latin typeface="Arial"/>
                        </a:defRPr>
                      </a:pPr>
                      <a:r>
                        <a:t>Battery resting voltage lower than normal. Risk of starting delays.</a:t>
                      </a:r>
                    </a:p>
                  </a:txBody>
                  <a:tcPr>
                    <a:solidFill>
                      <a:srgbClr val="4C4643"/>
                    </a:solidFill>
                  </a:tcPr>
                </a:tc>
                <a:tc>
                  <a:txBody>
                    <a:bodyPr/>
                    <a:lstStyle/>
                    <a:p>
                      <a:pPr>
                        <a:defRPr sz="950">
                          <a:solidFill>
                            <a:srgbClr val="F0EFED"/>
                          </a:solidFill>
                          <a:latin typeface="Arial"/>
                        </a:defRPr>
                      </a:pPr>
                      <a:r>
                        <a:t>Open-circuit resting voltage dropped. Perform 15s carbon pile load test.</a:t>
                      </a:r>
                    </a:p>
                  </a:txBody>
                  <a:tcPr>
                    <a:solidFill>
                      <a:srgbClr val="4C4643"/>
                    </a:solidFill>
                  </a:tcPr>
                </a:tc>
                <a:extLst>
                  <a:ext uri="{0D108BD9-81ED-4DB2-BD59-A6C34878D82A}">
                    <a16:rowId xmlns:a16="http://schemas.microsoft.com/office/drawing/2014/main" val="10003"/>
                  </a:ext>
                </a:extLst>
              </a:tr>
              <a:tr h="877824">
                <a:tc>
                  <a:txBody>
                    <a:bodyPr/>
                    <a:lstStyle/>
                    <a:p>
                      <a:pPr>
                        <a:defRPr sz="950">
                          <a:solidFill>
                            <a:srgbClr val="F0EFED"/>
                          </a:solidFill>
                          <a:latin typeface="Consolas"/>
                        </a:defRPr>
                      </a:pPr>
                      <a:r>
                        <a:t>ELE-ALT-002</a:t>
                      </a:r>
                    </a:p>
                  </a:txBody>
                  <a:tcPr>
                    <a:solidFill>
                      <a:srgbClr val="000000"/>
                    </a:solidFill>
                  </a:tcPr>
                </a:tc>
                <a:tc>
                  <a:txBody>
                    <a:bodyPr/>
                    <a:lstStyle/>
                    <a:p>
                      <a:pPr>
                        <a:defRPr sz="950">
                          <a:solidFill>
                            <a:srgbClr val="F0EFED"/>
                          </a:solidFill>
                          <a:latin typeface="Consolas"/>
                        </a:defRPr>
                      </a:pPr>
                      <a:r>
                        <a:t>Charging System</a:t>
                      </a:r>
                    </a:p>
                  </a:txBody>
                  <a:tcPr>
                    <a:solidFill>
                      <a:srgbClr val="000000"/>
                    </a:solidFill>
                  </a:tcPr>
                </a:tc>
                <a:tc>
                  <a:txBody>
                    <a:bodyPr/>
                    <a:lstStyle/>
                    <a:p>
                      <a:pPr>
                        <a:defRPr sz="950">
                          <a:solidFill>
                            <a:srgbClr val="F0EFED"/>
                          </a:solidFill>
                          <a:latin typeface="Consolas"/>
                        </a:defRPr>
                      </a:pPr>
                      <a:r>
                        <a:t>&lt; 13.20 V</a:t>
                      </a:r>
                    </a:p>
                  </a:txBody>
                  <a:tcPr>
                    <a:solidFill>
                      <a:srgbClr val="000000"/>
                    </a:solidFill>
                  </a:tcPr>
                </a:tc>
                <a:tc>
                  <a:txBody>
                    <a:bodyPr/>
                    <a:lstStyle/>
                    <a:p>
                      <a:pPr>
                        <a:defRPr sz="950">
                          <a:solidFill>
                            <a:srgbClr val="F0EFED"/>
                          </a:solidFill>
                          <a:latin typeface="Arial"/>
                        </a:defRPr>
                      </a:pPr>
                      <a:r>
                        <a:t>Charging generator not replenishing battery. Have inspected promptly.</a:t>
                      </a:r>
                    </a:p>
                  </a:txBody>
                  <a:tcPr>
                    <a:solidFill>
                      <a:srgbClr val="000000"/>
                    </a:solidFill>
                  </a:tcPr>
                </a:tc>
                <a:tc>
                  <a:txBody>
                    <a:bodyPr/>
                    <a:lstStyle/>
                    <a:p>
                      <a:pPr>
                        <a:defRPr sz="950">
                          <a:solidFill>
                            <a:srgbClr val="F0EFED"/>
                          </a:solidFill>
                          <a:latin typeface="Arial"/>
                        </a:defRPr>
                      </a:pPr>
                      <a:r>
                        <a:t>Alternator output dropped under load. Check belt tension and diode bridge.</a:t>
                      </a:r>
                    </a:p>
                  </a:txBody>
                  <a:tcPr>
                    <a:solidFill>
                      <a:srgbClr val="000000"/>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698480" cy="1005840"/>
          </a:xfrm>
          <a:prstGeom prst="rect">
            <a:avLst/>
          </a:prstGeom>
          <a:noFill/>
        </p:spPr>
        <p:txBody>
          <a:bodyPr wrap="square" lIns="0" tIns="0" rIns="0" bIns="0">
            <a:spAutoFit/>
          </a:bodyPr>
          <a:lstStyle/>
          <a:p>
            <a:pPr>
              <a:defRPr sz="1000" b="1">
                <a:solidFill>
                  <a:srgbClr val="A5A78F"/>
                </a:solidFill>
                <a:latin typeface="Consolas"/>
              </a:defRPr>
            </a:pPr>
            <a:r>
              <a:t>12 / SUMMARY &amp; ROADMAP</a:t>
            </a:r>
          </a:p>
          <a:p>
            <a:pPr>
              <a:defRPr sz="2200" b="1">
                <a:solidFill>
                  <a:srgbClr val="F0EFED"/>
                </a:solidFill>
                <a:latin typeface="Arial"/>
              </a:defRPr>
            </a:pPr>
            <a:r>
              <a:t>Summary, Conclusions &amp; Future Roadmap</a:t>
            </a:r>
          </a:p>
          <a:p>
            <a:pPr>
              <a:defRPr sz="1100">
                <a:solidFill>
                  <a:srgbClr val="A5A78F"/>
                </a:solidFill>
                <a:latin typeface="Arial"/>
              </a:defRPr>
            </a:pPr>
            <a:r>
              <a:t>Full-stack automotive intelligence platform ready for scaling and future vehicle architectures</a:t>
            </a:r>
          </a:p>
        </p:txBody>
      </p:sp>
      <p:sp>
        <p:nvSpPr>
          <p:cNvPr id="4" name="Rectangle 3"/>
          <p:cNvSpPr/>
          <p:nvPr/>
        </p:nvSpPr>
        <p:spPr>
          <a:xfrm>
            <a:off x="731520" y="6400800"/>
            <a:ext cx="10728655" cy="18288"/>
          </a:xfrm>
          <a:prstGeom prst="rect">
            <a:avLst/>
          </a:prstGeom>
          <a:solidFill>
            <a:srgbClr val="4C46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6446520"/>
            <a:ext cx="10698480" cy="320040"/>
          </a:xfrm>
          <a:prstGeom prst="rect">
            <a:avLst/>
          </a:prstGeom>
          <a:noFill/>
        </p:spPr>
        <p:txBody>
          <a:bodyPr wrap="none">
            <a:spAutoFit/>
          </a:bodyPr>
          <a:lstStyle/>
          <a:p>
            <a:pPr>
              <a:defRPr sz="900">
                <a:solidFill>
                  <a:srgbClr val="A5A78F"/>
                </a:solidFill>
                <a:latin typeface="Consolas"/>
              </a:defRPr>
            </a:pPr>
            <a:r>
              <a:t>YANAMA – Automotive Intelligence &amp; Analytics Web Platform | Confidential Engineering Specification</a:t>
            </a:r>
          </a:p>
        </p:txBody>
      </p:sp>
      <p:sp>
        <p:nvSpPr>
          <p:cNvPr id="6" name="Rounded Rectangle 5"/>
          <p:cNvSpPr/>
          <p:nvPr/>
        </p:nvSpPr>
        <p:spPr>
          <a:xfrm>
            <a:off x="731520" y="1554480"/>
            <a:ext cx="5175504" cy="4480560"/>
          </a:xfrm>
          <a:prstGeom prst="roundRect">
            <a:avLst/>
          </a:prstGeom>
          <a:solidFill>
            <a:srgbClr val="000000"/>
          </a:solidFill>
          <a:ln>
            <a:solidFill>
              <a:srgbClr val="4C4643"/>
            </a:solidFill>
          </a:ln>
        </p:spPr>
        <p:style>
          <a:lnRef idx="1">
            <a:schemeClr val="accent1"/>
          </a:lnRef>
          <a:fillRef idx="3">
            <a:schemeClr val="accent1"/>
          </a:fillRef>
          <a:effectRef idx="2">
            <a:schemeClr val="accent1"/>
          </a:effectRef>
          <a:fontRef idx="minor">
            <a:schemeClr val="lt1"/>
          </a:fontRef>
        </p:style>
        <p:txBody>
          <a:bodyPr wrap="square" lIns="274320" tIns="274320" rtlCol="0" anchor="ctr"/>
          <a:lstStyle/>
          <a:p>
            <a:pPr algn="ctr">
              <a:defRPr sz="1100" b="1">
                <a:solidFill>
                  <a:srgbClr val="A5A78F"/>
                </a:solidFill>
                <a:latin typeface="Consolas"/>
              </a:defRPr>
            </a:pPr>
            <a:r>
              <a:rPr dirty="0"/>
              <a:t>PLATFORM DELIVERABLES COMPLETED</a:t>
            </a:r>
          </a:p>
          <a:p>
            <a:pPr>
              <a:spcBef>
                <a:spcPts val="1000"/>
              </a:spcBef>
              <a:defRPr sz="1050">
                <a:solidFill>
                  <a:srgbClr val="F0EFED"/>
                </a:solidFill>
              </a:defRPr>
            </a:pPr>
            <a:r>
              <a:rPr dirty="0"/>
              <a:t>✓ Full-Stack System Live: </a:t>
            </a:r>
            <a:r>
              <a:rPr dirty="0" err="1"/>
              <a:t>FastAPI</a:t>
            </a:r>
            <a:r>
              <a:rPr dirty="0"/>
              <a:t> backend + React Vite TypeScript frontend running live.</a:t>
            </a:r>
            <a:br>
              <a:rPr dirty="0"/>
            </a:br>
            <a:br>
              <a:rPr dirty="0"/>
            </a:br>
            <a:r>
              <a:rPr dirty="0"/>
              <a:t>✓ 13 Passing Backend Tests: Verified unit tests and integration tests covering all analytics.</a:t>
            </a:r>
            <a:br>
              <a:rPr dirty="0"/>
            </a:br>
            <a:br>
              <a:rPr dirty="0"/>
            </a:br>
            <a:r>
              <a:rPr dirty="0"/>
              <a:t>✓ Statistical Engine with AI Agent: Distribution histograms, percentiles, and OLS regression.</a:t>
            </a:r>
            <a:br>
              <a:rPr dirty="0"/>
            </a:br>
            <a:br>
              <a:rPr dirty="0"/>
            </a:br>
            <a:r>
              <a:rPr dirty="0"/>
              <a:t>✓ Road Trip Simulation Planner: Side-by-side condition comparison with pre-trip checklist.</a:t>
            </a:r>
            <a:br>
              <a:rPr dirty="0"/>
            </a:br>
            <a:br>
              <a:rPr dirty="0"/>
            </a:br>
            <a:r>
              <a:rPr dirty="0"/>
              <a:t>✓ Mileage Intelligence Dashboard: Drop/rise factor attribution with quantified fuel recovery.</a:t>
            </a:r>
            <a:br>
              <a:rPr dirty="0"/>
            </a:br>
            <a:br>
              <a:rPr dirty="0"/>
            </a:br>
            <a:r>
              <a:rPr dirty="0"/>
              <a:t>✓ Authentic PDF &amp; CSV Exports: </a:t>
            </a:r>
            <a:r>
              <a:rPr dirty="0" err="1"/>
              <a:t>ReportLab</a:t>
            </a:r>
            <a:r>
              <a:rPr dirty="0"/>
              <a:t> PDF audit generator and CSV telemetry exporter.</a:t>
            </a:r>
          </a:p>
        </p:txBody>
      </p:sp>
      <p:sp>
        <p:nvSpPr>
          <p:cNvPr id="7" name="Rounded Rectangle 6"/>
          <p:cNvSpPr/>
          <p:nvPr/>
        </p:nvSpPr>
        <p:spPr>
          <a:xfrm>
            <a:off x="6272784" y="1554480"/>
            <a:ext cx="5175504" cy="4480560"/>
          </a:xfrm>
          <a:prstGeom prst="roundRect">
            <a:avLst/>
          </a:prstGeom>
          <a:solidFill>
            <a:srgbClr val="000000"/>
          </a:solidFill>
          <a:ln>
            <a:solidFill>
              <a:srgbClr val="4C4643"/>
            </a:solidFill>
          </a:ln>
        </p:spPr>
        <p:style>
          <a:lnRef idx="1">
            <a:schemeClr val="accent1"/>
          </a:lnRef>
          <a:fillRef idx="3">
            <a:schemeClr val="accent1"/>
          </a:fillRef>
          <a:effectRef idx="2">
            <a:schemeClr val="accent1"/>
          </a:effectRef>
          <a:fontRef idx="minor">
            <a:schemeClr val="lt1"/>
          </a:fontRef>
        </p:style>
        <p:txBody>
          <a:bodyPr wrap="square" lIns="274320" tIns="274320" rtlCol="0" anchor="ctr"/>
          <a:lstStyle/>
          <a:p>
            <a:pPr algn="ctr">
              <a:defRPr sz="1100" b="1">
                <a:solidFill>
                  <a:srgbClr val="A5A78F"/>
                </a:solidFill>
                <a:latin typeface="Consolas"/>
              </a:defRPr>
            </a:pPr>
            <a:r>
              <a:t>FUTURE ROADMAP &amp; EV EXPANSION</a:t>
            </a:r>
          </a:p>
          <a:p>
            <a:pPr>
              <a:spcBef>
                <a:spcPts val="1000"/>
              </a:spcBef>
              <a:defRPr sz="1050">
                <a:solidFill>
                  <a:srgbClr val="F0EFED"/>
                </a:solidFill>
              </a:defRPr>
            </a:pPr>
            <a:r>
              <a:t>1. Direct BLE / Hardware Sync (Phase 2):</a:t>
            </a:r>
            <a:br/>
            <a:r>
              <a:t>Modular architecture allows plug-and-play Bluetooth/WiFi hardware socket without rewriting analytics.</a:t>
            </a:r>
            <a:br/>
            <a:br/>
            <a:r>
              <a:t>2. Electric Vehicle (EV) Powertrain Module:</a:t>
            </a:r>
            <a:br/>
            <a:r>
              <a:t>Modular schema ready to accept State of Health (SoH), cell temperature deltas, and regenerative braking efficiency.</a:t>
            </a:r>
            <a:br/>
            <a:br/>
            <a:r>
              <a:t>3. Multi-Vehicle Fleet Telematics Console:</a:t>
            </a:r>
            <a:br/>
            <a:r>
              <a:t>Aggregated commercial fleet management with cross-vehicle driver pacing comparisons.</a:t>
            </a:r>
            <a:br/>
            <a:br/>
            <a:r>
              <a:t>4. Continuous Edge Telemetry Processing:</a:t>
            </a:r>
            <a:br/>
            <a:r>
              <a:t>Lightweight on-device rule evaluation before local CSV caching.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FCD5D-C5B6-7274-8B4F-D32597A80D0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69A9242-6F7C-C1EB-B60E-188802F2ADB1}"/>
              </a:ext>
            </a:extLst>
          </p:cNvPr>
          <p:cNvSpPr/>
          <p:nvPr/>
        </p:nvSpPr>
        <p:spPr>
          <a:xfrm>
            <a:off x="0" y="0"/>
            <a:ext cx="12191695" cy="6858000"/>
          </a:xfrm>
          <a:prstGeom prst="rect">
            <a:avLst/>
          </a:prstGeom>
          <a:solidFill>
            <a:srgbClr val="1D1D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FD106B8E-FC12-7C1A-A2DA-ED4D82F78D8A}"/>
              </a:ext>
            </a:extLst>
          </p:cNvPr>
          <p:cNvSpPr/>
          <p:nvPr/>
        </p:nvSpPr>
        <p:spPr>
          <a:xfrm>
            <a:off x="731520" y="6400800"/>
            <a:ext cx="10728655" cy="18288"/>
          </a:xfrm>
          <a:prstGeom prst="rect">
            <a:avLst/>
          </a:prstGeom>
          <a:solidFill>
            <a:srgbClr val="4C46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E3F89BF6-A6C0-8A0B-BF4E-0840F644460E}"/>
              </a:ext>
            </a:extLst>
          </p:cNvPr>
          <p:cNvSpPr txBox="1"/>
          <p:nvPr/>
        </p:nvSpPr>
        <p:spPr>
          <a:xfrm>
            <a:off x="731520" y="6446520"/>
            <a:ext cx="10698480" cy="320040"/>
          </a:xfrm>
          <a:prstGeom prst="rect">
            <a:avLst/>
          </a:prstGeom>
          <a:noFill/>
        </p:spPr>
        <p:txBody>
          <a:bodyPr wrap="none">
            <a:spAutoFit/>
          </a:bodyPr>
          <a:lstStyle/>
          <a:p>
            <a:pPr>
              <a:defRPr sz="900">
                <a:solidFill>
                  <a:srgbClr val="A5A78F"/>
                </a:solidFill>
                <a:latin typeface="Consolas"/>
              </a:defRPr>
            </a:pPr>
            <a:r>
              <a:t>YANAMA – Automotive Intelligence &amp; Analytics Web Platform | Confidential Engineering Specification</a:t>
            </a:r>
          </a:p>
        </p:txBody>
      </p:sp>
      <p:sp>
        <p:nvSpPr>
          <p:cNvPr id="6" name="Rounded Rectangle 5">
            <a:extLst>
              <a:ext uri="{FF2B5EF4-FFF2-40B4-BE49-F238E27FC236}">
                <a16:creationId xmlns:a16="http://schemas.microsoft.com/office/drawing/2014/main" id="{11507EDA-5BDB-E37B-BE48-D25F57532BD7}"/>
              </a:ext>
            </a:extLst>
          </p:cNvPr>
          <p:cNvSpPr/>
          <p:nvPr/>
        </p:nvSpPr>
        <p:spPr>
          <a:xfrm>
            <a:off x="731520" y="1554480"/>
            <a:ext cx="5175504" cy="4480560"/>
          </a:xfrm>
          <a:prstGeom prst="roundRect">
            <a:avLst/>
          </a:prstGeom>
          <a:solidFill>
            <a:srgbClr val="000000"/>
          </a:solidFill>
          <a:ln>
            <a:solidFill>
              <a:srgbClr val="4C4643"/>
            </a:solidFill>
          </a:ln>
        </p:spPr>
        <p:style>
          <a:lnRef idx="1">
            <a:schemeClr val="accent1"/>
          </a:lnRef>
          <a:fillRef idx="3">
            <a:schemeClr val="accent1"/>
          </a:fillRef>
          <a:effectRef idx="2">
            <a:schemeClr val="accent1"/>
          </a:effectRef>
          <a:fontRef idx="minor">
            <a:schemeClr val="lt1"/>
          </a:fontRef>
        </p:style>
        <p:txBody>
          <a:bodyPr wrap="square" lIns="274320" tIns="274320" rtlCol="0" anchor="ctr"/>
          <a:lstStyle/>
          <a:p>
            <a:r>
              <a:rPr lang="en-US" dirty="0">
                <a:solidFill>
                  <a:schemeClr val="bg2">
                    <a:lumMod val="25000"/>
                  </a:schemeClr>
                </a:solidFill>
              </a:rPr>
              <a:t>Author Details :</a:t>
            </a:r>
            <a:br>
              <a:rPr lang="en-US" dirty="0"/>
            </a:br>
            <a:br>
              <a:rPr lang="en-US" dirty="0"/>
            </a:br>
            <a:r>
              <a:rPr lang="en-US" dirty="0"/>
              <a:t>Rishi Harikrishnan</a:t>
            </a:r>
            <a:br>
              <a:rPr lang="en-US" dirty="0"/>
            </a:br>
            <a:r>
              <a:rPr lang="en-US" dirty="0"/>
              <a:t>+91 9962141703</a:t>
            </a:r>
            <a:br>
              <a:rPr lang="en-US" dirty="0"/>
            </a:br>
            <a:r>
              <a:rPr lang="en-US" dirty="0">
                <a:hlinkClick r:id="rId2"/>
              </a:rPr>
              <a:t>rishih2006@gmail.com</a:t>
            </a:r>
            <a:br>
              <a:rPr lang="en-US" dirty="0"/>
            </a:br>
            <a:r>
              <a:rPr lang="en-US" dirty="0">
                <a:hlinkClick r:id="rId3"/>
              </a:rPr>
              <a:t>https://www.linkedin.com/in/rishiharikrishnan</a:t>
            </a:r>
            <a:r>
              <a:rPr lang="en-US" dirty="0"/>
              <a:t> </a:t>
            </a:r>
            <a:br>
              <a:rPr lang="en-US" dirty="0"/>
            </a:br>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724824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632E46A-A427-636D-67B5-23A35B6CB7D1}"/>
              </a:ext>
            </a:extLst>
          </p:cNvPr>
          <p:cNvSpPr txBox="1"/>
          <p:nvPr/>
        </p:nvSpPr>
        <p:spPr>
          <a:xfrm>
            <a:off x="819150" y="1019175"/>
            <a:ext cx="8100100" cy="1754326"/>
          </a:xfrm>
          <a:prstGeom prst="rect">
            <a:avLst/>
          </a:prstGeom>
          <a:noFill/>
        </p:spPr>
        <p:txBody>
          <a:bodyPr wrap="square" rtlCol="0">
            <a:spAutoFit/>
          </a:bodyPr>
          <a:lstStyle/>
          <a:p>
            <a:r>
              <a:rPr lang="en-US" dirty="0"/>
              <a:t>Author Details :</a:t>
            </a:r>
            <a:br>
              <a:rPr lang="en-US" dirty="0"/>
            </a:br>
            <a:br>
              <a:rPr lang="en-US" dirty="0"/>
            </a:br>
            <a:r>
              <a:rPr lang="en-US" dirty="0"/>
              <a:t>Rishi Harikrishnan</a:t>
            </a:r>
            <a:br>
              <a:rPr lang="en-US" dirty="0"/>
            </a:br>
            <a:r>
              <a:rPr lang="en-US" dirty="0"/>
              <a:t>+91 9962141703</a:t>
            </a:r>
            <a:br>
              <a:rPr lang="en-US" dirty="0"/>
            </a:br>
            <a:r>
              <a:rPr lang="en-US" dirty="0">
                <a:hlinkClick r:id="rId2"/>
              </a:rPr>
              <a:t>rishih2006@gmail.com</a:t>
            </a:r>
            <a:br>
              <a:rPr lang="en-US" dirty="0"/>
            </a:br>
            <a:r>
              <a:rPr lang="en-US" dirty="0"/>
              <a:t>https://www.linkedin.com/in/rishiharikrishnan</a:t>
            </a:r>
          </a:p>
        </p:txBody>
      </p:sp>
    </p:spTree>
    <p:extLst>
      <p:ext uri="{BB962C8B-B14F-4D97-AF65-F5344CB8AC3E}">
        <p14:creationId xmlns:p14="http://schemas.microsoft.com/office/powerpoint/2010/main" val="21333491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TotalTime>
  <Words>2758</Words>
  <Application>Microsoft Office PowerPoint</Application>
  <PresentationFormat>Widescreen</PresentationFormat>
  <Paragraphs>155</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Rishi Harikrishnan</cp:lastModifiedBy>
  <cp:revision>1</cp:revision>
  <dcterms:created xsi:type="dcterms:W3CDTF">2013-01-27T09:14:16Z</dcterms:created>
  <dcterms:modified xsi:type="dcterms:W3CDTF">2026-10-22T17:52:59Z</dcterms:modified>
  <cp:category/>
</cp:coreProperties>
</file>